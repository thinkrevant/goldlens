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1bb043-3977-4966-c1e3-b15712ac9673}">
          <p14:sldIdLst>
            <p14:sldId id="256"/>
          </p14:sldIdLst>
        </p14:section>
        <p14:section name="Problem and solution" id="{4ee98d59-fb0e-6c14-6118-9f850fef02af}">
          <p14:sldIdLst>
            <p14:sldId id="257"/>
            <p14:sldId id="258"/>
          </p14:sldIdLst>
        </p14:section>
        <p14:section name="Prototype" id="{b7cb8f7a-a683-7f68-c678-691451d17c3d}">
          <p14:sldIdLst>
            <p14:sldId id="259"/>
            <p14:sldId id="260"/>
          </p14:sldIdLst>
        </p14:section>
        <p14:section name="Results and progress" id="{b8f92396-e305-d5b8-0d69-a680032e0a00}">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GOLDM</c:v>
                </c:pt>
              </c:strCache>
            </c:strRef>
          </c:tx>
          <c:spPr>
            <a:solidFill>
              <a:srgbClr val="E0B04A"/>
            </a:solidFill>
            <a:ln w="25400" cap="flat">
              <a:solidFill>
                <a:srgbClr val="E0B0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B04A"/>
              </a:solidFill>
              <a:ln w="9525" cap="flat">
                <a:solidFill>
                  <a:srgbClr val="E0B04A"/>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Sheet1!$B$2:$B$130</c:f>
              <c:numCache>
                <c:formatCode>General</c:formatCode>
                <c:ptCount val="129"/>
                <c:pt idx="0">
                  <c:v>129253</c:v>
                </c:pt>
                <c:pt idx="1">
                  <c:v>130014</c:v>
                </c:pt>
                <c:pt idx="2">
                  <c:v>121556</c:v>
                </c:pt>
                <c:pt idx="3">
                  <c:v>123042</c:v>
                </c:pt>
                <c:pt idx="4">
                  <c:v>119176</c:v>
                </c:pt>
                <c:pt idx="5">
                  <c:v>120734</c:v>
                </c:pt>
                <c:pt idx="6">
                  <c:v>120613</c:v>
                </c:pt>
                <c:pt idx="7">
                  <c:v>120079</c:v>
                </c:pt>
                <c:pt idx="8">
                  <c:v>121543</c:v>
                </c:pt>
                <c:pt idx="9">
                  <c:v>124395</c:v>
                </c:pt>
                <c:pt idx="10">
                  <c:v>127177</c:v>
                </c:pt>
                <c:pt idx="11">
                  <c:v>123283</c:v>
                </c:pt>
                <c:pt idx="12">
                  <c:v>123398</c:v>
                </c:pt>
                <c:pt idx="13">
                  <c:v>124347</c:v>
                </c:pt>
                <c:pt idx="14">
                  <c:v>125418</c:v>
                </c:pt>
                <c:pt idx="15">
                  <c:v>125969</c:v>
                </c:pt>
                <c:pt idx="16">
                  <c:v>128549</c:v>
                </c:pt>
                <c:pt idx="17">
                  <c:v>128488</c:v>
                </c:pt>
                <c:pt idx="18">
                  <c:v>128900</c:v>
                </c:pt>
                <c:pt idx="19">
                  <c:v>129371</c:v>
                </c:pt>
                <c:pt idx="20">
                  <c:v>131431</c:v>
                </c:pt>
                <c:pt idx="21">
                  <c:v>133024</c:v>
                </c:pt>
                <c:pt idx="22">
                  <c:v>133650</c:v>
                </c:pt>
                <c:pt idx="23">
                  <c:v>132959</c:v>
                </c:pt>
                <c:pt idx="24">
                  <c:v>136345</c:v>
                </c:pt>
                <c:pt idx="25">
                  <c:v>138343</c:v>
                </c:pt>
                <c:pt idx="26">
                  <c:v>134513</c:v>
                </c:pt>
                <c:pt idx="27">
                  <c:v>133705</c:v>
                </c:pt>
                <c:pt idx="28">
                  <c:v>136186</c:v>
                </c:pt>
                <c:pt idx="29">
                  <c:v>138532</c:v>
                </c:pt>
                <c:pt idx="30">
                  <c:v>139255</c:v>
                </c:pt>
                <c:pt idx="31">
                  <c:v>142518</c:v>
                </c:pt>
                <c:pt idx="32">
                  <c:v>143424</c:v>
                </c:pt>
                <c:pt idx="33">
                  <c:v>145811</c:v>
                </c:pt>
                <c:pt idx="34">
                  <c:v>153957</c:v>
                </c:pt>
                <c:pt idx="35">
                  <c:v>157302</c:v>
                </c:pt>
                <c:pt idx="36">
                  <c:v>167764</c:v>
                </c:pt>
                <c:pt idx="37">
                  <c:v>151045</c:v>
                </c:pt>
                <c:pt idx="38">
                  <c:v>151640</c:v>
                </c:pt>
                <c:pt idx="39">
                  <c:v>150335</c:v>
                </c:pt>
                <c:pt idx="40">
                  <c:v>156960</c:v>
                </c:pt>
                <c:pt idx="41">
                  <c:v>157214</c:v>
                </c:pt>
                <c:pt idx="42">
                  <c:v>154490</c:v>
                </c:pt>
                <c:pt idx="43">
                  <c:v>150092</c:v>
                </c:pt>
                <c:pt idx="44">
                  <c:v>153623</c:v>
                </c:pt>
                <c:pt idx="45">
                  <c:v>159925</c:v>
                </c:pt>
                <c:pt idx="46">
                  <c:v>159557</c:v>
                </c:pt>
                <c:pt idx="47">
                  <c:v>160336</c:v>
                </c:pt>
                <c:pt idx="48">
                  <c:v>159612</c:v>
                </c:pt>
                <c:pt idx="49">
                  <c:v>158567</c:v>
                </c:pt>
                <c:pt idx="50">
                  <c:v>160969</c:v>
                </c:pt>
                <c:pt idx="51">
                  <c:v>162429</c:v>
                </c:pt>
                <c:pt idx="52">
                  <c:v>159164</c:v>
                </c:pt>
                <c:pt idx="53">
                  <c:v>156657</c:v>
                </c:pt>
                <c:pt idx="54">
                  <c:v>145600</c:v>
                </c:pt>
                <c:pt idx="55">
                  <c:v>140044</c:v>
                </c:pt>
                <c:pt idx="56">
                  <c:v>144918</c:v>
                </c:pt>
                <c:pt idx="57">
                  <c:v>144919</c:v>
                </c:pt>
                <c:pt idx="58">
                  <c:v>148285</c:v>
                </c:pt>
                <c:pt idx="59">
                  <c:v>147728</c:v>
                </c:pt>
                <c:pt idx="60">
                  <c:v>149331</c:v>
                </c:pt>
                <c:pt idx="61">
                  <c:v>152683</c:v>
                </c:pt>
                <c:pt idx="62">
                  <c:v>151278</c:v>
                </c:pt>
                <c:pt idx="63">
                  <c:v>153032</c:v>
                </c:pt>
                <c:pt idx="64">
                  <c:v>153792</c:v>
                </c:pt>
                <c:pt idx="65">
                  <c:v>150880</c:v>
                </c:pt>
                <c:pt idx="66">
                  <c:v>151019</c:v>
                </c:pt>
                <c:pt idx="67">
                  <c:v>150831</c:v>
                </c:pt>
                <c:pt idx="68">
                  <c:v>148048</c:v>
                </c:pt>
                <c:pt idx="69">
                  <c:v>149549</c:v>
                </c:pt>
                <c:pt idx="70">
                  <c:v>148010</c:v>
                </c:pt>
                <c:pt idx="71">
                  <c:v>152788</c:v>
                </c:pt>
                <c:pt idx="72">
                  <c:v>154062</c:v>
                </c:pt>
                <c:pt idx="73">
                  <c:v>162206</c:v>
                </c:pt>
                <c:pt idx="74">
                  <c:v>158789</c:v>
                </c:pt>
                <c:pt idx="75">
                  <c:v>159060</c:v>
                </c:pt>
                <c:pt idx="76">
                  <c:v>159644</c:v>
                </c:pt>
                <c:pt idx="77">
                  <c:v>159152</c:v>
                </c:pt>
                <c:pt idx="78">
                  <c:v>155885</c:v>
                </c:pt>
                <c:pt idx="79">
                  <c:v>156613</c:v>
                </c:pt>
                <c:pt idx="80">
                  <c:v>155242</c:v>
                </c:pt>
                <c:pt idx="81">
                  <c:v>155980</c:v>
                </c:pt>
                <c:pt idx="82">
                  <c:v>153515</c:v>
                </c:pt>
                <c:pt idx="83">
                  <c:v>146976</c:v>
                </c:pt>
                <c:pt idx="84">
                  <c:v>149317</c:v>
                </c:pt>
                <c:pt idx="85">
                  <c:v>151592</c:v>
                </c:pt>
                <c:pt idx="86">
                  <c:v>148017</c:v>
                </c:pt>
                <c:pt idx="87">
                  <c:v>146712</c:v>
                </c:pt>
                <c:pt idx="88">
                  <c:v>140085</c:v>
                </c:pt>
                <c:pt idx="89">
                  <c:v>142583</c:v>
                </c:pt>
                <c:pt idx="90">
                  <c:v>140754</c:v>
                </c:pt>
                <c:pt idx="91">
                  <c:v>144593</c:v>
                </c:pt>
                <c:pt idx="92">
                  <c:v>147348</c:v>
                </c:pt>
                <c:pt idx="93">
                  <c:v>144128</c:v>
                </c:pt>
                <c:pt idx="94">
                  <c:v>143952</c:v>
                </c:pt>
                <c:pt idx="95">
                  <c:v>142764</c:v>
                </c:pt>
                <c:pt idx="96">
                  <c:v>140884</c:v>
                </c:pt>
                <c:pt idx="97">
                  <c:v>141909</c:v>
                </c:pt>
                <c:pt idx="98">
                  <c:v>146000</c:v>
                </c:pt>
                <c:pt idx="99">
                  <c:v>143572</c:v>
                </c:pt>
                <c:pt idx="100">
                  <c:v>142017</c:v>
                </c:pt>
                <c:pt idx="101">
                  <c:v>143647</c:v>
                </c:pt>
                <c:pt idx="102">
                  <c:v>141670</c:v>
                </c:pt>
                <c:pt idx="103">
                  <c:v>147022</c:v>
                </c:pt>
                <c:pt idx="104">
                  <c:v>151076</c:v>
                </c:pt>
                <c:pt idx="105">
                  <c:v>153098</c:v>
                </c:pt>
                <c:pt idx="106">
                  <c:v>152932</c:v>
                </c:pt>
                <c:pt idx="107">
                  <c:v>155192</c:v>
                </c:pt>
                <c:pt idx="108">
                  <c:v>157200</c:v>
                </c:pt>
                <c:pt idx="109">
                  <c:v>161563</c:v>
                </c:pt>
                <c:pt idx="110">
                  <c:v>162388</c:v>
                </c:pt>
                <c:pt idx="111">
                  <c:v>158866</c:v>
                </c:pt>
                <c:pt idx="112">
                  <c:v>154971</c:v>
                </c:pt>
                <c:pt idx="113">
                  <c:v>152564</c:v>
                </c:pt>
                <c:pt idx="114">
                  <c:v>152608</c:v>
                </c:pt>
                <c:pt idx="115">
                  <c:v>153367</c:v>
                </c:pt>
                <c:pt idx="116">
                  <c:v>153132</c:v>
                </c:pt>
                <c:pt idx="117">
                  <c:v>151994</c:v>
                </c:pt>
                <c:pt idx="118">
                  <c:v>153246</c:v>
                </c:pt>
                <c:pt idx="119">
                  <c:v>155088</c:v>
                </c:pt>
                <c:pt idx="120">
                  <c:v>153311</c:v>
                </c:pt>
                <c:pt idx="121">
                  <c:v>151222</c:v>
                </c:pt>
                <c:pt idx="122">
                  <c:v>147430</c:v>
                </c:pt>
                <c:pt idx="123">
                  <c:v>146739</c:v>
                </c:pt>
                <c:pt idx="124">
                  <c:v>147491</c:v>
                </c:pt>
                <c:pt idx="125">
                  <c:v>148492</c:v>
                </c:pt>
                <c:pt idx="126">
                  <c:v>150734</c:v>
                </c:pt>
                <c:pt idx="127">
                  <c:v>147768</c:v>
                </c:pt>
                <c:pt idx="128">
                  <c:v>146748</c:v>
                </c:pt>
              </c:numCache>
            </c:numRef>
          </c:val>
          <c:smooth val="0"/>
        </c:ser>
        <c:ser>
          <c:idx val="1"/>
          <c:order val="1"/>
          <c:tx>
            <c:strRef>
              <c:f>Sheet1!$C$1</c:f>
              <c:strCache>
                <c:ptCount val="1"/>
                <c:pt idx="0">
                  <c:v>GOLDTEN</c:v>
                </c:pt>
              </c:strCache>
            </c:strRef>
          </c:tx>
          <c:spPr>
            <a:solidFill>
              <a:srgbClr val="5B8DEF"/>
            </a:solidFill>
            <a:ln w="25400" cap="flat">
              <a:solidFill>
                <a:srgbClr val="5B8DE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8DEF"/>
              </a:solidFill>
              <a:ln w="9525" cap="flat">
                <a:solidFill>
                  <a:srgbClr val="5B8DEF"/>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Sheet1!$C$2:$C$130</c:f>
              <c:numCache>
                <c:formatCode>General</c:formatCode>
                <c:ptCount val="129"/>
                <c:pt idx="0">
                  <c:v>129274</c:v>
                </c:pt>
                <c:pt idx="1">
                  <c:v>129749</c:v>
                </c:pt>
                <c:pt idx="2">
                  <c:v>121208</c:v>
                </c:pt>
                <c:pt idx="3">
                  <c:v>122774</c:v>
                </c:pt>
                <c:pt idx="4">
                  <c:v>121219</c:v>
                </c:pt>
                <c:pt idx="5">
                  <c:v>120761</c:v>
                </c:pt>
                <c:pt idx="6">
                  <c:v>121646</c:v>
                </c:pt>
                <c:pt idx="7">
                  <c:v>120705</c:v>
                </c:pt>
                <c:pt idx="8">
                  <c:v>121266</c:v>
                </c:pt>
                <c:pt idx="9">
                  <c:v>124176</c:v>
                </c:pt>
                <c:pt idx="10">
                  <c:v>126902</c:v>
                </c:pt>
                <c:pt idx="11">
                  <c:v>123079</c:v>
                </c:pt>
                <c:pt idx="12">
                  <c:v>123205</c:v>
                </c:pt>
                <c:pt idx="13">
                  <c:v>123973</c:v>
                </c:pt>
                <c:pt idx="14">
                  <c:v>125031</c:v>
                </c:pt>
                <c:pt idx="15">
                  <c:v>125672</c:v>
                </c:pt>
                <c:pt idx="16">
                  <c:v>129721</c:v>
                </c:pt>
                <c:pt idx="17">
                  <c:v>129575</c:v>
                </c:pt>
                <c:pt idx="18">
                  <c:v>129540</c:v>
                </c:pt>
                <c:pt idx="19">
                  <c:v>129166</c:v>
                </c:pt>
                <c:pt idx="20">
                  <c:v>131137</c:v>
                </c:pt>
                <c:pt idx="21">
                  <c:v>132802</c:v>
                </c:pt>
                <c:pt idx="22">
                  <c:v>133373</c:v>
                </c:pt>
                <c:pt idx="23">
                  <c:v>132780</c:v>
                </c:pt>
                <c:pt idx="24">
                  <c:v>136076</c:v>
                </c:pt>
                <c:pt idx="25">
                  <c:v>137605</c:v>
                </c:pt>
                <c:pt idx="26">
                  <c:v>135031</c:v>
                </c:pt>
                <c:pt idx="27">
                  <c:v>136697</c:v>
                </c:pt>
                <c:pt idx="28">
                  <c:v>138619</c:v>
                </c:pt>
                <c:pt idx="29">
                  <c:v>138799</c:v>
                </c:pt>
                <c:pt idx="30">
                  <c:v>139030</c:v>
                </c:pt>
                <c:pt idx="31">
                  <c:v>142531</c:v>
                </c:pt>
                <c:pt idx="32">
                  <c:v>143406</c:v>
                </c:pt>
                <c:pt idx="33">
                  <c:v>145420</c:v>
                </c:pt>
                <c:pt idx="34">
                  <c:v>154588</c:v>
                </c:pt>
                <c:pt idx="35">
                  <c:v>157207</c:v>
                </c:pt>
                <c:pt idx="36">
                  <c:v>168149</c:v>
                </c:pt>
                <c:pt idx="37">
                  <c:v>175309</c:v>
                </c:pt>
                <c:pt idx="38">
                  <c:v>155897</c:v>
                </c:pt>
                <c:pt idx="39">
                  <c:v>153847</c:v>
                </c:pt>
                <c:pt idx="40">
                  <c:v>159571</c:v>
                </c:pt>
                <c:pt idx="41">
                  <c:v>159234</c:v>
                </c:pt>
                <c:pt idx="42">
                  <c:v>156122</c:v>
                </c:pt>
                <c:pt idx="43">
                  <c:v>151517</c:v>
                </c:pt>
                <c:pt idx="44">
                  <c:v>154774</c:v>
                </c:pt>
                <c:pt idx="45">
                  <c:v>159096</c:v>
                </c:pt>
                <c:pt idx="46">
                  <c:v>158877</c:v>
                </c:pt>
                <c:pt idx="47">
                  <c:v>159018</c:v>
                </c:pt>
                <c:pt idx="48">
                  <c:v>162581</c:v>
                </c:pt>
                <c:pt idx="49">
                  <c:v>161141</c:v>
                </c:pt>
                <c:pt idx="50">
                  <c:v>161402</c:v>
                </c:pt>
                <c:pt idx="51">
                  <c:v>162563</c:v>
                </c:pt>
                <c:pt idx="52">
                  <c:v>159582</c:v>
                </c:pt>
                <c:pt idx="53">
                  <c:v>156849</c:v>
                </c:pt>
                <c:pt idx="54">
                  <c:v>145452</c:v>
                </c:pt>
                <c:pt idx="55">
                  <c:v>139750</c:v>
                </c:pt>
                <c:pt idx="56">
                  <c:v>144036</c:v>
                </c:pt>
                <c:pt idx="57">
                  <c:v>145273</c:v>
                </c:pt>
                <c:pt idx="58">
                  <c:v>149605</c:v>
                </c:pt>
                <c:pt idx="59">
                  <c:v>148539</c:v>
                </c:pt>
                <c:pt idx="60">
                  <c:v>149023</c:v>
                </c:pt>
                <c:pt idx="61">
                  <c:v>152366</c:v>
                </c:pt>
                <c:pt idx="62">
                  <c:v>151065</c:v>
                </c:pt>
                <c:pt idx="63">
                  <c:v>152729</c:v>
                </c:pt>
                <c:pt idx="64">
                  <c:v>153398</c:v>
                </c:pt>
                <c:pt idx="65">
                  <c:v>150537</c:v>
                </c:pt>
                <c:pt idx="66">
                  <c:v>150475</c:v>
                </c:pt>
                <c:pt idx="67">
                  <c:v>149929</c:v>
                </c:pt>
                <c:pt idx="68">
                  <c:v>147878</c:v>
                </c:pt>
                <c:pt idx="69">
                  <c:v>151604</c:v>
                </c:pt>
                <c:pt idx="70">
                  <c:v>150097</c:v>
                </c:pt>
                <c:pt idx="71">
                  <c:v>152461</c:v>
                </c:pt>
                <c:pt idx="72">
                  <c:v>153656</c:v>
                </c:pt>
                <c:pt idx="73">
                  <c:v>161723</c:v>
                </c:pt>
                <c:pt idx="74">
                  <c:v>158404</c:v>
                </c:pt>
                <c:pt idx="75">
                  <c:v>158596</c:v>
                </c:pt>
                <c:pt idx="76">
                  <c:v>159066</c:v>
                </c:pt>
                <c:pt idx="77">
                  <c:v>158506</c:v>
                </c:pt>
                <c:pt idx="78">
                  <c:v>155240</c:v>
                </c:pt>
                <c:pt idx="79">
                  <c:v>157354</c:v>
                </c:pt>
                <c:pt idx="80">
                  <c:v>157366</c:v>
                </c:pt>
                <c:pt idx="81">
                  <c:v>157541</c:v>
                </c:pt>
                <c:pt idx="82">
                  <c:v>153208</c:v>
                </c:pt>
                <c:pt idx="83">
                  <c:v>146751</c:v>
                </c:pt>
                <c:pt idx="84">
                  <c:v>148962</c:v>
                </c:pt>
                <c:pt idx="85">
                  <c:v>151202</c:v>
                </c:pt>
                <c:pt idx="86">
                  <c:v>147687</c:v>
                </c:pt>
                <c:pt idx="87">
                  <c:v>146384</c:v>
                </c:pt>
                <c:pt idx="88">
                  <c:v>139880</c:v>
                </c:pt>
                <c:pt idx="89">
                  <c:v>142474</c:v>
                </c:pt>
                <c:pt idx="90">
                  <c:v>141285</c:v>
                </c:pt>
                <c:pt idx="91">
                  <c:v>145961</c:v>
                </c:pt>
                <c:pt idx="92">
                  <c:v>147060</c:v>
                </c:pt>
                <c:pt idx="93">
                  <c:v>143814</c:v>
                </c:pt>
                <c:pt idx="94">
                  <c:v>143682</c:v>
                </c:pt>
                <c:pt idx="95">
                  <c:v>142467</c:v>
                </c:pt>
                <c:pt idx="96">
                  <c:v>140643</c:v>
                </c:pt>
                <c:pt idx="97">
                  <c:v>141649</c:v>
                </c:pt>
                <c:pt idx="98">
                  <c:v>145373</c:v>
                </c:pt>
                <c:pt idx="99">
                  <c:v>142977</c:v>
                </c:pt>
                <c:pt idx="100">
                  <c:v>141432</c:v>
                </c:pt>
                <c:pt idx="101">
                  <c:v>143703</c:v>
                </c:pt>
                <c:pt idx="102">
                  <c:v>142472</c:v>
                </c:pt>
                <c:pt idx="103">
                  <c:v>147318</c:v>
                </c:pt>
                <c:pt idx="104">
                  <c:v>150539</c:v>
                </c:pt>
                <c:pt idx="105">
                  <c:v>152593</c:v>
                </c:pt>
                <c:pt idx="106">
                  <c:v>152437</c:v>
                </c:pt>
                <c:pt idx="107">
                  <c:v>154609</c:v>
                </c:pt>
                <c:pt idx="108">
                  <c:v>156629</c:v>
                </c:pt>
                <c:pt idx="109">
                  <c:v>160889</c:v>
                </c:pt>
                <c:pt idx="110">
                  <c:v>161563</c:v>
                </c:pt>
                <c:pt idx="111">
                  <c:v>158159</c:v>
                </c:pt>
                <c:pt idx="112">
                  <c:v>155688</c:v>
                </c:pt>
                <c:pt idx="113">
                  <c:v>152751</c:v>
                </c:pt>
                <c:pt idx="114">
                  <c:v>153081</c:v>
                </c:pt>
                <c:pt idx="115">
                  <c:v>152939</c:v>
                </c:pt>
                <c:pt idx="116">
                  <c:v>152714</c:v>
                </c:pt>
                <c:pt idx="117">
                  <c:v>151568</c:v>
                </c:pt>
                <c:pt idx="118">
                  <c:v>152756</c:v>
                </c:pt>
                <c:pt idx="119">
                  <c:v>154617</c:v>
                </c:pt>
                <c:pt idx="120">
                  <c:v>152967</c:v>
                </c:pt>
                <c:pt idx="121">
                  <c:v>150973</c:v>
                </c:pt>
                <c:pt idx="122">
                  <c:v>147109</c:v>
                </c:pt>
                <c:pt idx="123">
                  <c:v>148248</c:v>
                </c:pt>
                <c:pt idx="124">
                  <c:v>148542</c:v>
                </c:pt>
                <c:pt idx="125">
                  <c:v>148276</c:v>
                </c:pt>
                <c:pt idx="126">
                  <c:v>150459</c:v>
                </c:pt>
                <c:pt idx="127">
                  <c:v>147567</c:v>
                </c:pt>
                <c:pt idx="128">
                  <c:v>146521</c:v>
                </c:pt>
              </c:numCache>
            </c:numRef>
          </c:val>
          <c:smooth val="0"/>
        </c:ser>
        <c:ser>
          <c:idx val="2"/>
          <c:order val="2"/>
          <c:tx>
            <c:strRef>
              <c:f>Sheet1!$D$1</c:f>
              <c:strCache>
                <c:ptCount val="1"/>
                <c:pt idx="0">
                  <c:v>GOLDGUINEA</c:v>
                </c:pt>
              </c:strCache>
            </c:strRef>
          </c:tx>
          <c:spPr>
            <a:solidFill>
              <a:srgbClr val="F07A8C"/>
            </a:solidFill>
            <a:ln w="25400" cap="flat">
              <a:solidFill>
                <a:srgbClr val="F07A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07A8C"/>
              </a:solidFill>
              <a:ln w="9525" cap="flat">
                <a:solidFill>
                  <a:srgbClr val="F07A8C"/>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Sheet1!$D$2:$D$130</c:f>
              <c:numCache>
                <c:formatCode>General</c:formatCode>
                <c:ptCount val="129"/>
                <c:pt idx="0">
                  <c:v>130470</c:v>
                </c:pt>
                <c:pt idx="1">
                  <c:v>130421</c:v>
                </c:pt>
                <c:pt idx="2">
                  <c:v>121580</c:v>
                </c:pt>
                <c:pt idx="3">
                  <c:v>123231</c:v>
                </c:pt>
                <c:pt idx="4">
                  <c:v>121888</c:v>
                </c:pt>
                <c:pt idx="5">
                  <c:v>122055</c:v>
                </c:pt>
                <c:pt idx="6">
                  <c:v>122744</c:v>
                </c:pt>
                <c:pt idx="7">
                  <c:v>121902</c:v>
                </c:pt>
                <c:pt idx="8">
                  <c:v>122366</c:v>
                </c:pt>
                <c:pt idx="9">
                  <c:v>125141</c:v>
                </c:pt>
                <c:pt idx="10">
                  <c:v>127934</c:v>
                </c:pt>
                <c:pt idx="11">
                  <c:v>124580</c:v>
                </c:pt>
                <c:pt idx="12">
                  <c:v>124672</c:v>
                </c:pt>
                <c:pt idx="13">
                  <c:v>125102</c:v>
                </c:pt>
                <c:pt idx="14">
                  <c:v>126869</c:v>
                </c:pt>
                <c:pt idx="15">
                  <c:v>127125</c:v>
                </c:pt>
                <c:pt idx="16">
                  <c:v>130506</c:v>
                </c:pt>
                <c:pt idx="17">
                  <c:v>130506</c:v>
                </c:pt>
                <c:pt idx="18">
                  <c:v>130471</c:v>
                </c:pt>
                <c:pt idx="19">
                  <c:v>130476</c:v>
                </c:pt>
                <c:pt idx="20">
                  <c:v>132132</c:v>
                </c:pt>
                <c:pt idx="21">
                  <c:v>134129</c:v>
                </c:pt>
                <c:pt idx="22">
                  <c:v>134841</c:v>
                </c:pt>
                <c:pt idx="23">
                  <c:v>134221</c:v>
                </c:pt>
                <c:pt idx="24">
                  <c:v>137482</c:v>
                </c:pt>
                <c:pt idx="25">
                  <c:v>138881</c:v>
                </c:pt>
                <c:pt idx="26">
                  <c:v>138644</c:v>
                </c:pt>
                <c:pt idx="27">
                  <c:v>139920</c:v>
                </c:pt>
                <c:pt idx="28">
                  <c:v>141432</c:v>
                </c:pt>
                <c:pt idx="29">
                  <c:v>141348</c:v>
                </c:pt>
                <c:pt idx="30">
                  <c:v>141195</c:v>
                </c:pt>
                <c:pt idx="31">
                  <c:v>144059</c:v>
                </c:pt>
                <c:pt idx="32">
                  <c:v>145310</c:v>
                </c:pt>
                <c:pt idx="33">
                  <c:v>147441</c:v>
                </c:pt>
                <c:pt idx="34">
                  <c:v>161275</c:v>
                </c:pt>
                <c:pt idx="35">
                  <c:v>163632</c:v>
                </c:pt>
                <c:pt idx="36">
                  <c:v>173981</c:v>
                </c:pt>
                <c:pt idx="37">
                  <c:v>175350</c:v>
                </c:pt>
                <c:pt idx="38">
                  <c:v>158550</c:v>
                </c:pt>
                <c:pt idx="39">
                  <c:v>156890</c:v>
                </c:pt>
                <c:pt idx="40">
                  <c:v>162012</c:v>
                </c:pt>
                <c:pt idx="41">
                  <c:v>161534</c:v>
                </c:pt>
                <c:pt idx="42">
                  <c:v>158618</c:v>
                </c:pt>
                <c:pt idx="43">
                  <c:v>154948</c:v>
                </c:pt>
                <c:pt idx="44">
                  <c:v>157655</c:v>
                </c:pt>
                <c:pt idx="45">
                  <c:v>161220</c:v>
                </c:pt>
                <c:pt idx="46">
                  <c:v>160840</c:v>
                </c:pt>
                <c:pt idx="47">
                  <c:v>161985</c:v>
                </c:pt>
                <c:pt idx="48">
                  <c:v>165876</c:v>
                </c:pt>
                <c:pt idx="49">
                  <c:v>164244</c:v>
                </c:pt>
                <c:pt idx="50">
                  <c:v>164006</c:v>
                </c:pt>
                <c:pt idx="51">
                  <c:v>165026</c:v>
                </c:pt>
                <c:pt idx="52">
                  <c:v>162309</c:v>
                </c:pt>
                <c:pt idx="53">
                  <c:v>159550</c:v>
                </c:pt>
                <c:pt idx="54">
                  <c:v>148172</c:v>
                </c:pt>
                <c:pt idx="55">
                  <c:v>142585</c:v>
                </c:pt>
                <c:pt idx="56">
                  <c:v>144584</c:v>
                </c:pt>
                <c:pt idx="57">
                  <c:v>144049</c:v>
                </c:pt>
                <c:pt idx="58">
                  <c:v>149992</c:v>
                </c:pt>
                <c:pt idx="59">
                  <c:v>149140</c:v>
                </c:pt>
                <c:pt idx="60">
                  <c:v>149782</c:v>
                </c:pt>
                <c:pt idx="61">
                  <c:v>153024</c:v>
                </c:pt>
                <c:pt idx="62">
                  <c:v>151770</c:v>
                </c:pt>
                <c:pt idx="63">
                  <c:v>153405</c:v>
                </c:pt>
                <c:pt idx="64">
                  <c:v>154166</c:v>
                </c:pt>
                <c:pt idx="65">
                  <c:v>151738</c:v>
                </c:pt>
                <c:pt idx="66">
                  <c:v>151949</c:v>
                </c:pt>
                <c:pt idx="67">
                  <c:v>150692</c:v>
                </c:pt>
                <c:pt idx="68">
                  <c:v>149330</c:v>
                </c:pt>
                <c:pt idx="69">
                  <c:v>152366</c:v>
                </c:pt>
                <c:pt idx="70">
                  <c:v>151035</c:v>
                </c:pt>
                <c:pt idx="71">
                  <c:v>153226</c:v>
                </c:pt>
                <c:pt idx="72">
                  <c:v>154092</c:v>
                </c:pt>
                <c:pt idx="73">
                  <c:v>162654</c:v>
                </c:pt>
                <c:pt idx="74">
                  <c:v>159251</c:v>
                </c:pt>
                <c:pt idx="75">
                  <c:v>159028</c:v>
                </c:pt>
                <c:pt idx="76">
                  <c:v>159725</c:v>
                </c:pt>
                <c:pt idx="77">
                  <c:v>159308</c:v>
                </c:pt>
                <c:pt idx="78">
                  <c:v>155364</c:v>
                </c:pt>
                <c:pt idx="79">
                  <c:v>157034</c:v>
                </c:pt>
                <c:pt idx="80">
                  <c:v>158159</c:v>
                </c:pt>
                <c:pt idx="81">
                  <c:v>158259</c:v>
                </c:pt>
                <c:pt idx="82">
                  <c:v>154069</c:v>
                </c:pt>
                <c:pt idx="83">
                  <c:v>147868</c:v>
                </c:pt>
                <c:pt idx="84">
                  <c:v>149794</c:v>
                </c:pt>
                <c:pt idx="85">
                  <c:v>152022</c:v>
                </c:pt>
                <c:pt idx="86">
                  <c:v>148694</c:v>
                </c:pt>
                <c:pt idx="87">
                  <c:v>147545</c:v>
                </c:pt>
                <c:pt idx="88">
                  <c:v>140690</c:v>
                </c:pt>
                <c:pt idx="89">
                  <c:v>142935</c:v>
                </c:pt>
                <c:pt idx="90">
                  <c:v>142931</c:v>
                </c:pt>
                <c:pt idx="91">
                  <c:v>146695</c:v>
                </c:pt>
                <c:pt idx="92">
                  <c:v>147771</c:v>
                </c:pt>
                <c:pt idx="93">
                  <c:v>144576</c:v>
                </c:pt>
                <c:pt idx="94">
                  <c:v>144502</c:v>
                </c:pt>
                <c:pt idx="95">
                  <c:v>143366</c:v>
                </c:pt>
                <c:pt idx="96">
                  <c:v>141618</c:v>
                </c:pt>
                <c:pt idx="97">
                  <c:v>142772</c:v>
                </c:pt>
                <c:pt idx="98">
                  <c:v>146036</c:v>
                </c:pt>
                <c:pt idx="99">
                  <c:v>143680</c:v>
                </c:pt>
                <c:pt idx="100">
                  <c:v>141564</c:v>
                </c:pt>
                <c:pt idx="101">
                  <c:v>143404</c:v>
                </c:pt>
                <c:pt idx="102">
                  <c:v>143162</c:v>
                </c:pt>
                <c:pt idx="103">
                  <c:v>147511</c:v>
                </c:pt>
                <c:pt idx="104">
                  <c:v>151120</c:v>
                </c:pt>
                <c:pt idx="105">
                  <c:v>153110</c:v>
                </c:pt>
                <c:pt idx="106">
                  <c:v>153098</c:v>
                </c:pt>
                <c:pt idx="107">
                  <c:v>155222</c:v>
                </c:pt>
                <c:pt idx="108">
                  <c:v>157219</c:v>
                </c:pt>
                <c:pt idx="109">
                  <c:v>161446</c:v>
                </c:pt>
                <c:pt idx="110">
                  <c:v>162048</c:v>
                </c:pt>
                <c:pt idx="111">
                  <c:v>157829</c:v>
                </c:pt>
                <c:pt idx="112">
                  <c:v>157326</c:v>
                </c:pt>
                <c:pt idx="113">
                  <c:v>153312</c:v>
                </c:pt>
                <c:pt idx="114">
                  <c:v>153641</c:v>
                </c:pt>
                <c:pt idx="115">
                  <c:v>153559</c:v>
                </c:pt>
                <c:pt idx="116">
                  <c:v>153080</c:v>
                </c:pt>
                <c:pt idx="117">
                  <c:v>151961</c:v>
                </c:pt>
                <c:pt idx="118">
                  <c:v>153155</c:v>
                </c:pt>
                <c:pt idx="119">
                  <c:v>154826</c:v>
                </c:pt>
                <c:pt idx="120">
                  <c:v>153270</c:v>
                </c:pt>
                <c:pt idx="121">
                  <c:v>151368</c:v>
                </c:pt>
                <c:pt idx="122">
                  <c:v>147588</c:v>
                </c:pt>
                <c:pt idx="123">
                  <c:v>149218</c:v>
                </c:pt>
                <c:pt idx="124">
                  <c:v>149276</c:v>
                </c:pt>
                <c:pt idx="125">
                  <c:v>148842</c:v>
                </c:pt>
                <c:pt idx="126">
                  <c:v>150938</c:v>
                </c:pt>
                <c:pt idx="127">
                  <c:v>148364</c:v>
                </c:pt>
                <c:pt idx="128">
                  <c:v>147281</c:v>
                </c:pt>
              </c:numCache>
            </c:numRef>
          </c:val>
          <c:smooth val="0"/>
        </c:ser>
        <c:ser>
          <c:idx val="3"/>
          <c:order val="3"/>
          <c:tx>
            <c:strRef>
              <c:f>Sheet1!$E$1</c:f>
              <c:strCache>
                <c:ptCount val="1"/>
                <c:pt idx="0">
                  <c:v>GOLDPETAL</c:v>
                </c:pt>
              </c:strCache>
            </c:strRef>
          </c:tx>
          <c:spPr>
            <a:solidFill>
              <a:srgbClr val="3CC9A7"/>
            </a:solidFill>
            <a:ln w="25400" cap="flat">
              <a:solidFill>
                <a:srgbClr val="3CC9A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CC9A7"/>
              </a:solidFill>
              <a:ln w="9525" cap="flat">
                <a:solidFill>
                  <a:srgbClr val="3CC9A7"/>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Sheet1!$E$2:$E$130</c:f>
              <c:numCache>
                <c:formatCode>General</c:formatCode>
                <c:ptCount val="129"/>
                <c:pt idx="0">
                  <c:v>130440</c:v>
                </c:pt>
                <c:pt idx="1">
                  <c:v>130700</c:v>
                </c:pt>
                <c:pt idx="2">
                  <c:v>122090</c:v>
                </c:pt>
                <c:pt idx="3">
                  <c:v>123460</c:v>
                </c:pt>
                <c:pt idx="4">
                  <c:v>120290</c:v>
                </c:pt>
                <c:pt idx="5">
                  <c:v>121810</c:v>
                </c:pt>
                <c:pt idx="6">
                  <c:v>122820</c:v>
                </c:pt>
                <c:pt idx="7">
                  <c:v>121980</c:v>
                </c:pt>
                <c:pt idx="8">
                  <c:v>122450</c:v>
                </c:pt>
                <c:pt idx="9">
                  <c:v>125280</c:v>
                </c:pt>
                <c:pt idx="10">
                  <c:v>128000</c:v>
                </c:pt>
                <c:pt idx="11">
                  <c:v>124680</c:v>
                </c:pt>
                <c:pt idx="12">
                  <c:v>124880</c:v>
                </c:pt>
                <c:pt idx="13">
                  <c:v>125500</c:v>
                </c:pt>
                <c:pt idx="14">
                  <c:v>126640</c:v>
                </c:pt>
                <c:pt idx="15">
                  <c:v>127760</c:v>
                </c:pt>
                <c:pt idx="16">
                  <c:v>131010</c:v>
                </c:pt>
                <c:pt idx="17">
                  <c:v>130820</c:v>
                </c:pt>
                <c:pt idx="18">
                  <c:v>130690</c:v>
                </c:pt>
                <c:pt idx="19">
                  <c:v>130650</c:v>
                </c:pt>
                <c:pt idx="20">
                  <c:v>132390</c:v>
                </c:pt>
                <c:pt idx="21">
                  <c:v>134380</c:v>
                </c:pt>
                <c:pt idx="22">
                  <c:v>134900</c:v>
                </c:pt>
                <c:pt idx="23">
                  <c:v>134400</c:v>
                </c:pt>
                <c:pt idx="24">
                  <c:v>137630</c:v>
                </c:pt>
                <c:pt idx="25">
                  <c:v>139750</c:v>
                </c:pt>
                <c:pt idx="26">
                  <c:v>137040</c:v>
                </c:pt>
                <c:pt idx="27">
                  <c:v>139440</c:v>
                </c:pt>
                <c:pt idx="28">
                  <c:v>141430</c:v>
                </c:pt>
                <c:pt idx="29">
                  <c:v>141130</c:v>
                </c:pt>
                <c:pt idx="30">
                  <c:v>141130</c:v>
                </c:pt>
                <c:pt idx="31">
                  <c:v>144200</c:v>
                </c:pt>
                <c:pt idx="32">
                  <c:v>145420</c:v>
                </c:pt>
                <c:pt idx="33">
                  <c:v>147900</c:v>
                </c:pt>
                <c:pt idx="34">
                  <c:v>160580</c:v>
                </c:pt>
                <c:pt idx="35">
                  <c:v>163930</c:v>
                </c:pt>
                <c:pt idx="36">
                  <c:v>171040</c:v>
                </c:pt>
                <c:pt idx="37">
                  <c:v>176320</c:v>
                </c:pt>
                <c:pt idx="38">
                  <c:v>157950</c:v>
                </c:pt>
                <c:pt idx="39">
                  <c:v>156380</c:v>
                </c:pt>
                <c:pt idx="40">
                  <c:v>161630</c:v>
                </c:pt>
                <c:pt idx="41">
                  <c:v>161780</c:v>
                </c:pt>
                <c:pt idx="42">
                  <c:v>158980</c:v>
                </c:pt>
                <c:pt idx="43">
                  <c:v>154730</c:v>
                </c:pt>
                <c:pt idx="44">
                  <c:v>158300</c:v>
                </c:pt>
                <c:pt idx="45">
                  <c:v>162490</c:v>
                </c:pt>
                <c:pt idx="46">
                  <c:v>162760</c:v>
                </c:pt>
                <c:pt idx="47">
                  <c:v>162480</c:v>
                </c:pt>
                <c:pt idx="48">
                  <c:v>166430</c:v>
                </c:pt>
                <c:pt idx="49">
                  <c:v>164990</c:v>
                </c:pt>
                <c:pt idx="50">
                  <c:v>164960</c:v>
                </c:pt>
                <c:pt idx="51">
                  <c:v>165980</c:v>
                </c:pt>
                <c:pt idx="52">
                  <c:v>162910</c:v>
                </c:pt>
                <c:pt idx="53">
                  <c:v>160030</c:v>
                </c:pt>
                <c:pt idx="54">
                  <c:v>148520</c:v>
                </c:pt>
                <c:pt idx="55">
                  <c:v>143030</c:v>
                </c:pt>
                <c:pt idx="56">
                  <c:v>144650</c:v>
                </c:pt>
                <c:pt idx="57">
                  <c:v>145280</c:v>
                </c:pt>
                <c:pt idx="58">
                  <c:v>150360</c:v>
                </c:pt>
                <c:pt idx="59">
                  <c:v>149350</c:v>
                </c:pt>
                <c:pt idx="60">
                  <c:v>150150</c:v>
                </c:pt>
                <c:pt idx="61">
                  <c:v>153320</c:v>
                </c:pt>
                <c:pt idx="62">
                  <c:v>152110</c:v>
                </c:pt>
                <c:pt idx="63">
                  <c:v>153810</c:v>
                </c:pt>
                <c:pt idx="64">
                  <c:v>154460</c:v>
                </c:pt>
                <c:pt idx="65">
                  <c:v>152200</c:v>
                </c:pt>
                <c:pt idx="66">
                  <c:v>152190</c:v>
                </c:pt>
                <c:pt idx="67">
                  <c:v>150980</c:v>
                </c:pt>
                <c:pt idx="68">
                  <c:v>149400</c:v>
                </c:pt>
                <c:pt idx="69">
                  <c:v>152740</c:v>
                </c:pt>
                <c:pt idx="70">
                  <c:v>151480</c:v>
                </c:pt>
                <c:pt idx="71">
                  <c:v>153630</c:v>
                </c:pt>
                <c:pt idx="72">
                  <c:v>154460</c:v>
                </c:pt>
                <c:pt idx="73">
                  <c:v>162860</c:v>
                </c:pt>
                <c:pt idx="74">
                  <c:v>159580</c:v>
                </c:pt>
                <c:pt idx="75">
                  <c:v>159370</c:v>
                </c:pt>
                <c:pt idx="76">
                  <c:v>159990</c:v>
                </c:pt>
                <c:pt idx="77">
                  <c:v>159410</c:v>
                </c:pt>
                <c:pt idx="78">
                  <c:v>156200</c:v>
                </c:pt>
                <c:pt idx="79">
                  <c:v>157230</c:v>
                </c:pt>
                <c:pt idx="80">
                  <c:v>158400</c:v>
                </c:pt>
                <c:pt idx="81">
                  <c:v>158510</c:v>
                </c:pt>
                <c:pt idx="82">
                  <c:v>154360</c:v>
                </c:pt>
                <c:pt idx="83">
                  <c:v>147940</c:v>
                </c:pt>
                <c:pt idx="84">
                  <c:v>149890</c:v>
                </c:pt>
                <c:pt idx="85">
                  <c:v>151990</c:v>
                </c:pt>
                <c:pt idx="86">
                  <c:v>148630</c:v>
                </c:pt>
                <c:pt idx="87">
                  <c:v>147450</c:v>
                </c:pt>
                <c:pt idx="88">
                  <c:v>140850</c:v>
                </c:pt>
                <c:pt idx="89">
                  <c:v>143170</c:v>
                </c:pt>
                <c:pt idx="90">
                  <c:v>142600</c:v>
                </c:pt>
                <c:pt idx="91">
                  <c:v>146660</c:v>
                </c:pt>
                <c:pt idx="92">
                  <c:v>147820</c:v>
                </c:pt>
                <c:pt idx="93">
                  <c:v>144610</c:v>
                </c:pt>
                <c:pt idx="94">
                  <c:v>144420</c:v>
                </c:pt>
                <c:pt idx="95">
                  <c:v>143300</c:v>
                </c:pt>
                <c:pt idx="96">
                  <c:v>141530</c:v>
                </c:pt>
                <c:pt idx="97">
                  <c:v>142680</c:v>
                </c:pt>
                <c:pt idx="98">
                  <c:v>146040</c:v>
                </c:pt>
                <c:pt idx="99">
                  <c:v>143540</c:v>
                </c:pt>
                <c:pt idx="100">
                  <c:v>141510</c:v>
                </c:pt>
                <c:pt idx="101">
                  <c:v>143830</c:v>
                </c:pt>
                <c:pt idx="102">
                  <c:v>143240</c:v>
                </c:pt>
                <c:pt idx="103">
                  <c:v>147700</c:v>
                </c:pt>
                <c:pt idx="104">
                  <c:v>151180</c:v>
                </c:pt>
                <c:pt idx="105">
                  <c:v>153190</c:v>
                </c:pt>
                <c:pt idx="106">
                  <c:v>153160</c:v>
                </c:pt>
                <c:pt idx="107">
                  <c:v>155220</c:v>
                </c:pt>
                <c:pt idx="108">
                  <c:v>157150</c:v>
                </c:pt>
                <c:pt idx="109">
                  <c:v>161330</c:v>
                </c:pt>
                <c:pt idx="110">
                  <c:v>161960</c:v>
                </c:pt>
                <c:pt idx="111">
                  <c:v>158440</c:v>
                </c:pt>
                <c:pt idx="112">
                  <c:v>156670</c:v>
                </c:pt>
                <c:pt idx="113">
                  <c:v>153290</c:v>
                </c:pt>
                <c:pt idx="114">
                  <c:v>153570</c:v>
                </c:pt>
                <c:pt idx="115">
                  <c:v>153480</c:v>
                </c:pt>
                <c:pt idx="116">
                  <c:v>153130</c:v>
                </c:pt>
                <c:pt idx="117">
                  <c:v>151910</c:v>
                </c:pt>
                <c:pt idx="118">
                  <c:v>152990</c:v>
                </c:pt>
                <c:pt idx="119">
                  <c:v>154800</c:v>
                </c:pt>
                <c:pt idx="120">
                  <c:v>153140</c:v>
                </c:pt>
                <c:pt idx="121">
                  <c:v>151260</c:v>
                </c:pt>
                <c:pt idx="122">
                  <c:v>148290</c:v>
                </c:pt>
                <c:pt idx="123">
                  <c:v>148840</c:v>
                </c:pt>
                <c:pt idx="124">
                  <c:v>149210</c:v>
                </c:pt>
                <c:pt idx="125">
                  <c:v>148870</c:v>
                </c:pt>
                <c:pt idx="126">
                  <c:v>151010</c:v>
                </c:pt>
                <c:pt idx="127">
                  <c:v>148360</c:v>
                </c:pt>
                <c:pt idx="128">
                  <c:v>147270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8A93A6"/>
                </a:solidFill>
                <a:latin typeface="+mn-lt"/>
              </a:defRPr>
            </a:pPr>
            <a:endParaRPr lang="en-US"/>
          </a:p>
        </c:txPr>
        <c:crossAx val="2094734552"/>
        <c:crosses val="autoZero"/>
        <c:auto val="1"/>
        <c:lblAlgn val="ctr"/>
        <c:noMultiLvlLbl val="1"/>
      </c:catAx>
      <c:valAx>
        <c:axId val="2094734552"/>
        <c:scaling>
          <c:orientation val="minMax"/>
          <c:min val="11000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8A93A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E9EBF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9EBF0"/>
                </a:solidFill>
                <a:latin typeface="+mn-lt"/>
              </a:defRPr>
            </a:pPr>
            <a:r>
              <a:rPr sz="1400" b="0" i="0" u="none" strike="noStrike">
                <a:solidFill>
                  <a:srgbClr val="E9EBF0"/>
                </a:solidFill>
                <a:latin typeface="+mn-lt"/>
              </a:rPr>
              <a:t>₹ per 10 g of 999 gold: four contracts, one line</a:t>
            </a:r>
          </a:p>
        </c:rich>
      </c:tx>
      <c:layout/>
      <c:overlay val="0"/>
    </c:title>
    <c:autoTitleDeleted val="0"/>
    <c:plotArea>
      <c:layout/>
      <c:lineChart>
        <c:varyColors val="0"/>
        <c:ser>
          <c:idx val="0"/>
          <c:order val="0"/>
          <c:tx>
            <c:strRef>
              <c:f>Sheet1!$B$1</c:f>
              <c:strCache>
                <c:ptCount val="1"/>
                <c:pt idx="0">
                  <c:v>GOLDM</c:v>
                </c:pt>
              </c:strCache>
            </c:strRef>
          </c:tx>
          <c:spPr>
            <a:solidFill>
              <a:srgbClr val="E0B04A"/>
            </a:solidFill>
            <a:ln w="22225" cap="flat">
              <a:solidFill>
                <a:srgbClr val="E0B0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B04A"/>
              </a:solidFill>
              <a:ln w="9525" cap="flat">
                <a:solidFill>
                  <a:srgbClr val="E0B04A"/>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Sheet1!$B$2:$B$130</c:f>
              <c:numCache>
                <c:formatCode>General</c:formatCode>
                <c:ptCount val="129"/>
                <c:pt idx="0">
                  <c:v>129253</c:v>
                </c:pt>
                <c:pt idx="1">
                  <c:v>130014</c:v>
                </c:pt>
                <c:pt idx="2">
                  <c:v>121556</c:v>
                </c:pt>
                <c:pt idx="3">
                  <c:v>123042</c:v>
                </c:pt>
                <c:pt idx="4">
                  <c:v>119176</c:v>
                </c:pt>
                <c:pt idx="5">
                  <c:v>120734</c:v>
                </c:pt>
                <c:pt idx="6">
                  <c:v>120613</c:v>
                </c:pt>
                <c:pt idx="7">
                  <c:v>120079</c:v>
                </c:pt>
                <c:pt idx="8">
                  <c:v>121543</c:v>
                </c:pt>
                <c:pt idx="9">
                  <c:v>124395</c:v>
                </c:pt>
                <c:pt idx="10">
                  <c:v>127177</c:v>
                </c:pt>
                <c:pt idx="11">
                  <c:v>123283</c:v>
                </c:pt>
                <c:pt idx="12">
                  <c:v>123398</c:v>
                </c:pt>
                <c:pt idx="13">
                  <c:v>124347</c:v>
                </c:pt>
                <c:pt idx="14">
                  <c:v>125418</c:v>
                </c:pt>
                <c:pt idx="15">
                  <c:v>125969</c:v>
                </c:pt>
                <c:pt idx="16">
                  <c:v>128549</c:v>
                </c:pt>
                <c:pt idx="17">
                  <c:v>128488</c:v>
                </c:pt>
                <c:pt idx="18">
                  <c:v>128900</c:v>
                </c:pt>
                <c:pt idx="19">
                  <c:v>129371</c:v>
                </c:pt>
                <c:pt idx="20">
                  <c:v>131431</c:v>
                </c:pt>
                <c:pt idx="21">
                  <c:v>133024</c:v>
                </c:pt>
                <c:pt idx="22">
                  <c:v>133650</c:v>
                </c:pt>
                <c:pt idx="23">
                  <c:v>132959</c:v>
                </c:pt>
                <c:pt idx="24">
                  <c:v>136345</c:v>
                </c:pt>
                <c:pt idx="25">
                  <c:v>138343</c:v>
                </c:pt>
                <c:pt idx="26">
                  <c:v>134513</c:v>
                </c:pt>
                <c:pt idx="27">
                  <c:v>133705</c:v>
                </c:pt>
                <c:pt idx="28">
                  <c:v>136186</c:v>
                </c:pt>
                <c:pt idx="29">
                  <c:v>138532</c:v>
                </c:pt>
                <c:pt idx="30">
                  <c:v>139255</c:v>
                </c:pt>
                <c:pt idx="31">
                  <c:v>142518</c:v>
                </c:pt>
                <c:pt idx="32">
                  <c:v>143424</c:v>
                </c:pt>
                <c:pt idx="33">
                  <c:v>145811</c:v>
                </c:pt>
                <c:pt idx="34">
                  <c:v>153957</c:v>
                </c:pt>
                <c:pt idx="35">
                  <c:v>157302</c:v>
                </c:pt>
                <c:pt idx="36">
                  <c:v>167764</c:v>
                </c:pt>
                <c:pt idx="37">
                  <c:v>151045</c:v>
                </c:pt>
                <c:pt idx="38">
                  <c:v>151640</c:v>
                </c:pt>
                <c:pt idx="39">
                  <c:v>150335</c:v>
                </c:pt>
                <c:pt idx="40">
                  <c:v>156960</c:v>
                </c:pt>
                <c:pt idx="41">
                  <c:v>157214</c:v>
                </c:pt>
                <c:pt idx="42">
                  <c:v>154490</c:v>
                </c:pt>
                <c:pt idx="43">
                  <c:v>150092</c:v>
                </c:pt>
                <c:pt idx="44">
                  <c:v>153623</c:v>
                </c:pt>
                <c:pt idx="45">
                  <c:v>159925</c:v>
                </c:pt>
                <c:pt idx="46">
                  <c:v>159557</c:v>
                </c:pt>
                <c:pt idx="47">
                  <c:v>160336</c:v>
                </c:pt>
                <c:pt idx="48">
                  <c:v>159612</c:v>
                </c:pt>
                <c:pt idx="49">
                  <c:v>158567</c:v>
                </c:pt>
                <c:pt idx="50">
                  <c:v>160969</c:v>
                </c:pt>
                <c:pt idx="51">
                  <c:v>162429</c:v>
                </c:pt>
                <c:pt idx="52">
                  <c:v>159164</c:v>
                </c:pt>
                <c:pt idx="53">
                  <c:v>156657</c:v>
                </c:pt>
                <c:pt idx="54">
                  <c:v>145600</c:v>
                </c:pt>
                <c:pt idx="55">
                  <c:v>140044</c:v>
                </c:pt>
                <c:pt idx="56">
                  <c:v>144918</c:v>
                </c:pt>
                <c:pt idx="57">
                  <c:v>144919</c:v>
                </c:pt>
                <c:pt idx="58">
                  <c:v>148285</c:v>
                </c:pt>
                <c:pt idx="59">
                  <c:v>147728</c:v>
                </c:pt>
                <c:pt idx="60">
                  <c:v>149331</c:v>
                </c:pt>
                <c:pt idx="61">
                  <c:v>152683</c:v>
                </c:pt>
                <c:pt idx="62">
                  <c:v>151278</c:v>
                </c:pt>
                <c:pt idx="63">
                  <c:v>153032</c:v>
                </c:pt>
                <c:pt idx="64">
                  <c:v>153792</c:v>
                </c:pt>
                <c:pt idx="65">
                  <c:v>150880</c:v>
                </c:pt>
                <c:pt idx="66">
                  <c:v>151019</c:v>
                </c:pt>
                <c:pt idx="67">
                  <c:v>150831</c:v>
                </c:pt>
                <c:pt idx="68">
                  <c:v>148048</c:v>
                </c:pt>
                <c:pt idx="69">
                  <c:v>149549</c:v>
                </c:pt>
                <c:pt idx="70">
                  <c:v>148010</c:v>
                </c:pt>
                <c:pt idx="71">
                  <c:v>152788</c:v>
                </c:pt>
                <c:pt idx="72">
                  <c:v>154062</c:v>
                </c:pt>
                <c:pt idx="73">
                  <c:v>162206</c:v>
                </c:pt>
                <c:pt idx="74">
                  <c:v>158789</c:v>
                </c:pt>
                <c:pt idx="75">
                  <c:v>159060</c:v>
                </c:pt>
                <c:pt idx="76">
                  <c:v>159644</c:v>
                </c:pt>
                <c:pt idx="77">
                  <c:v>159152</c:v>
                </c:pt>
                <c:pt idx="78">
                  <c:v>155885</c:v>
                </c:pt>
                <c:pt idx="79">
                  <c:v>156613</c:v>
                </c:pt>
                <c:pt idx="80">
                  <c:v>155242</c:v>
                </c:pt>
                <c:pt idx="81">
                  <c:v>155980</c:v>
                </c:pt>
                <c:pt idx="82">
                  <c:v>153515</c:v>
                </c:pt>
                <c:pt idx="83">
                  <c:v>146976</c:v>
                </c:pt>
                <c:pt idx="84">
                  <c:v>149317</c:v>
                </c:pt>
                <c:pt idx="85">
                  <c:v>151592</c:v>
                </c:pt>
                <c:pt idx="86">
                  <c:v>148017</c:v>
                </c:pt>
                <c:pt idx="87">
                  <c:v>146712</c:v>
                </c:pt>
                <c:pt idx="88">
                  <c:v>140085</c:v>
                </c:pt>
                <c:pt idx="89">
                  <c:v>142583</c:v>
                </c:pt>
                <c:pt idx="90">
                  <c:v>140754</c:v>
                </c:pt>
                <c:pt idx="91">
                  <c:v>144593</c:v>
                </c:pt>
                <c:pt idx="92">
                  <c:v>147348</c:v>
                </c:pt>
                <c:pt idx="93">
                  <c:v>144128</c:v>
                </c:pt>
                <c:pt idx="94">
                  <c:v>143952</c:v>
                </c:pt>
                <c:pt idx="95">
                  <c:v>142764</c:v>
                </c:pt>
                <c:pt idx="96">
                  <c:v>140884</c:v>
                </c:pt>
                <c:pt idx="97">
                  <c:v>141909</c:v>
                </c:pt>
                <c:pt idx="98">
                  <c:v>146000</c:v>
                </c:pt>
                <c:pt idx="99">
                  <c:v>143572</c:v>
                </c:pt>
                <c:pt idx="100">
                  <c:v>142017</c:v>
                </c:pt>
                <c:pt idx="101">
                  <c:v>143647</c:v>
                </c:pt>
                <c:pt idx="102">
                  <c:v>141670</c:v>
                </c:pt>
                <c:pt idx="103">
                  <c:v>147022</c:v>
                </c:pt>
                <c:pt idx="104">
                  <c:v>151076</c:v>
                </c:pt>
                <c:pt idx="105">
                  <c:v>153098</c:v>
                </c:pt>
                <c:pt idx="106">
                  <c:v>152932</c:v>
                </c:pt>
                <c:pt idx="107">
                  <c:v>155192</c:v>
                </c:pt>
                <c:pt idx="108">
                  <c:v>157200</c:v>
                </c:pt>
                <c:pt idx="109">
                  <c:v>161563</c:v>
                </c:pt>
                <c:pt idx="110">
                  <c:v>162388</c:v>
                </c:pt>
                <c:pt idx="111">
                  <c:v>158866</c:v>
                </c:pt>
                <c:pt idx="112">
                  <c:v>154971</c:v>
                </c:pt>
                <c:pt idx="113">
                  <c:v>152564</c:v>
                </c:pt>
                <c:pt idx="114">
                  <c:v>152608</c:v>
                </c:pt>
                <c:pt idx="115">
                  <c:v>153367</c:v>
                </c:pt>
                <c:pt idx="116">
                  <c:v>153132</c:v>
                </c:pt>
                <c:pt idx="117">
                  <c:v>151994</c:v>
                </c:pt>
                <c:pt idx="118">
                  <c:v>153246</c:v>
                </c:pt>
                <c:pt idx="119">
                  <c:v>155088</c:v>
                </c:pt>
                <c:pt idx="120">
                  <c:v>153311</c:v>
                </c:pt>
                <c:pt idx="121">
                  <c:v>151222</c:v>
                </c:pt>
                <c:pt idx="122">
                  <c:v>147430</c:v>
                </c:pt>
                <c:pt idx="123">
                  <c:v>146739</c:v>
                </c:pt>
                <c:pt idx="124">
                  <c:v>147491</c:v>
                </c:pt>
                <c:pt idx="125">
                  <c:v>148492</c:v>
                </c:pt>
                <c:pt idx="126">
                  <c:v>150734</c:v>
                </c:pt>
                <c:pt idx="127">
                  <c:v>147768</c:v>
                </c:pt>
                <c:pt idx="128">
                  <c:v>146748</c:v>
                </c:pt>
              </c:numCache>
            </c:numRef>
          </c:val>
          <c:smooth val="0"/>
        </c:ser>
        <c:ser>
          <c:idx val="1"/>
          <c:order val="1"/>
          <c:tx>
            <c:strRef>
              <c:f>Sheet1!$C$1</c:f>
              <c:strCache>
                <c:ptCount val="1"/>
                <c:pt idx="0">
                  <c:v>GOLDTEN</c:v>
                </c:pt>
              </c:strCache>
            </c:strRef>
          </c:tx>
          <c:spPr>
            <a:solidFill>
              <a:srgbClr val="5B8DEF"/>
            </a:solidFill>
            <a:ln w="22225" cap="flat">
              <a:solidFill>
                <a:srgbClr val="5B8DE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8DEF"/>
              </a:solidFill>
              <a:ln w="9525" cap="flat">
                <a:solidFill>
                  <a:srgbClr val="5B8DEF"/>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Sheet1!$C$2:$C$130</c:f>
              <c:numCache>
                <c:formatCode>General</c:formatCode>
                <c:ptCount val="129"/>
                <c:pt idx="0">
                  <c:v>129274</c:v>
                </c:pt>
                <c:pt idx="1">
                  <c:v>129749</c:v>
                </c:pt>
                <c:pt idx="2">
                  <c:v>121208</c:v>
                </c:pt>
                <c:pt idx="3">
                  <c:v>122774</c:v>
                </c:pt>
                <c:pt idx="4">
                  <c:v>121219</c:v>
                </c:pt>
                <c:pt idx="5">
                  <c:v>120761</c:v>
                </c:pt>
                <c:pt idx="6">
                  <c:v>121646</c:v>
                </c:pt>
                <c:pt idx="7">
                  <c:v>120705</c:v>
                </c:pt>
                <c:pt idx="8">
                  <c:v>121266</c:v>
                </c:pt>
                <c:pt idx="9">
                  <c:v>124176</c:v>
                </c:pt>
                <c:pt idx="10">
                  <c:v>126902</c:v>
                </c:pt>
                <c:pt idx="11">
                  <c:v>123079</c:v>
                </c:pt>
                <c:pt idx="12">
                  <c:v>123205</c:v>
                </c:pt>
                <c:pt idx="13">
                  <c:v>123973</c:v>
                </c:pt>
                <c:pt idx="14">
                  <c:v>125031</c:v>
                </c:pt>
                <c:pt idx="15">
                  <c:v>125672</c:v>
                </c:pt>
                <c:pt idx="16">
                  <c:v>129721</c:v>
                </c:pt>
                <c:pt idx="17">
                  <c:v>129575</c:v>
                </c:pt>
                <c:pt idx="18">
                  <c:v>129540</c:v>
                </c:pt>
                <c:pt idx="19">
                  <c:v>129166</c:v>
                </c:pt>
                <c:pt idx="20">
                  <c:v>131137</c:v>
                </c:pt>
                <c:pt idx="21">
                  <c:v>132802</c:v>
                </c:pt>
                <c:pt idx="22">
                  <c:v>133373</c:v>
                </c:pt>
                <c:pt idx="23">
                  <c:v>132780</c:v>
                </c:pt>
                <c:pt idx="24">
                  <c:v>136076</c:v>
                </c:pt>
                <c:pt idx="25">
                  <c:v>137605</c:v>
                </c:pt>
                <c:pt idx="26">
                  <c:v>135031</c:v>
                </c:pt>
                <c:pt idx="27">
                  <c:v>136697</c:v>
                </c:pt>
                <c:pt idx="28">
                  <c:v>138619</c:v>
                </c:pt>
                <c:pt idx="29">
                  <c:v>138799</c:v>
                </c:pt>
                <c:pt idx="30">
                  <c:v>139030</c:v>
                </c:pt>
                <c:pt idx="31">
                  <c:v>142531</c:v>
                </c:pt>
                <c:pt idx="32">
                  <c:v>143406</c:v>
                </c:pt>
                <c:pt idx="33">
                  <c:v>145420</c:v>
                </c:pt>
                <c:pt idx="34">
                  <c:v>154588</c:v>
                </c:pt>
                <c:pt idx="35">
                  <c:v>157207</c:v>
                </c:pt>
                <c:pt idx="36">
                  <c:v>168149</c:v>
                </c:pt>
                <c:pt idx="37">
                  <c:v>175309</c:v>
                </c:pt>
                <c:pt idx="38">
                  <c:v>155897</c:v>
                </c:pt>
                <c:pt idx="39">
                  <c:v>153847</c:v>
                </c:pt>
                <c:pt idx="40">
                  <c:v>159571</c:v>
                </c:pt>
                <c:pt idx="41">
                  <c:v>159234</c:v>
                </c:pt>
                <c:pt idx="42">
                  <c:v>156122</c:v>
                </c:pt>
                <c:pt idx="43">
                  <c:v>151517</c:v>
                </c:pt>
                <c:pt idx="44">
                  <c:v>154774</c:v>
                </c:pt>
                <c:pt idx="45">
                  <c:v>159096</c:v>
                </c:pt>
                <c:pt idx="46">
                  <c:v>158877</c:v>
                </c:pt>
                <c:pt idx="47">
                  <c:v>159018</c:v>
                </c:pt>
                <c:pt idx="48">
                  <c:v>162581</c:v>
                </c:pt>
                <c:pt idx="49">
                  <c:v>161141</c:v>
                </c:pt>
                <c:pt idx="50">
                  <c:v>161402</c:v>
                </c:pt>
                <c:pt idx="51">
                  <c:v>162563</c:v>
                </c:pt>
                <c:pt idx="52">
                  <c:v>159582</c:v>
                </c:pt>
                <c:pt idx="53">
                  <c:v>156849</c:v>
                </c:pt>
                <c:pt idx="54">
                  <c:v>145452</c:v>
                </c:pt>
                <c:pt idx="55">
                  <c:v>139750</c:v>
                </c:pt>
                <c:pt idx="56">
                  <c:v>144036</c:v>
                </c:pt>
                <c:pt idx="57">
                  <c:v>145273</c:v>
                </c:pt>
                <c:pt idx="58">
                  <c:v>149605</c:v>
                </c:pt>
                <c:pt idx="59">
                  <c:v>148539</c:v>
                </c:pt>
                <c:pt idx="60">
                  <c:v>149023</c:v>
                </c:pt>
                <c:pt idx="61">
                  <c:v>152366</c:v>
                </c:pt>
                <c:pt idx="62">
                  <c:v>151065</c:v>
                </c:pt>
                <c:pt idx="63">
                  <c:v>152729</c:v>
                </c:pt>
                <c:pt idx="64">
                  <c:v>153398</c:v>
                </c:pt>
                <c:pt idx="65">
                  <c:v>150537</c:v>
                </c:pt>
                <c:pt idx="66">
                  <c:v>150475</c:v>
                </c:pt>
                <c:pt idx="67">
                  <c:v>149929</c:v>
                </c:pt>
                <c:pt idx="68">
                  <c:v>147878</c:v>
                </c:pt>
                <c:pt idx="69">
                  <c:v>151604</c:v>
                </c:pt>
                <c:pt idx="70">
                  <c:v>150097</c:v>
                </c:pt>
                <c:pt idx="71">
                  <c:v>152461</c:v>
                </c:pt>
                <c:pt idx="72">
                  <c:v>153656</c:v>
                </c:pt>
                <c:pt idx="73">
                  <c:v>161723</c:v>
                </c:pt>
                <c:pt idx="74">
                  <c:v>158404</c:v>
                </c:pt>
                <c:pt idx="75">
                  <c:v>158596</c:v>
                </c:pt>
                <c:pt idx="76">
                  <c:v>159066</c:v>
                </c:pt>
                <c:pt idx="77">
                  <c:v>158506</c:v>
                </c:pt>
                <c:pt idx="78">
                  <c:v>155240</c:v>
                </c:pt>
                <c:pt idx="79">
                  <c:v>157354</c:v>
                </c:pt>
                <c:pt idx="80">
                  <c:v>157366</c:v>
                </c:pt>
                <c:pt idx="81">
                  <c:v>157541</c:v>
                </c:pt>
                <c:pt idx="82">
                  <c:v>153208</c:v>
                </c:pt>
                <c:pt idx="83">
                  <c:v>146751</c:v>
                </c:pt>
                <c:pt idx="84">
                  <c:v>148962</c:v>
                </c:pt>
                <c:pt idx="85">
                  <c:v>151202</c:v>
                </c:pt>
                <c:pt idx="86">
                  <c:v>147687</c:v>
                </c:pt>
                <c:pt idx="87">
                  <c:v>146384</c:v>
                </c:pt>
                <c:pt idx="88">
                  <c:v>139880</c:v>
                </c:pt>
                <c:pt idx="89">
                  <c:v>142474</c:v>
                </c:pt>
                <c:pt idx="90">
                  <c:v>141285</c:v>
                </c:pt>
                <c:pt idx="91">
                  <c:v>145961</c:v>
                </c:pt>
                <c:pt idx="92">
                  <c:v>147060</c:v>
                </c:pt>
                <c:pt idx="93">
                  <c:v>143814</c:v>
                </c:pt>
                <c:pt idx="94">
                  <c:v>143682</c:v>
                </c:pt>
                <c:pt idx="95">
                  <c:v>142467</c:v>
                </c:pt>
                <c:pt idx="96">
                  <c:v>140643</c:v>
                </c:pt>
                <c:pt idx="97">
                  <c:v>141649</c:v>
                </c:pt>
                <c:pt idx="98">
                  <c:v>145373</c:v>
                </c:pt>
                <c:pt idx="99">
                  <c:v>142977</c:v>
                </c:pt>
                <c:pt idx="100">
                  <c:v>141432</c:v>
                </c:pt>
                <c:pt idx="101">
                  <c:v>143703</c:v>
                </c:pt>
                <c:pt idx="102">
                  <c:v>142472</c:v>
                </c:pt>
                <c:pt idx="103">
                  <c:v>147318</c:v>
                </c:pt>
                <c:pt idx="104">
                  <c:v>150539</c:v>
                </c:pt>
                <c:pt idx="105">
                  <c:v>152593</c:v>
                </c:pt>
                <c:pt idx="106">
                  <c:v>152437</c:v>
                </c:pt>
                <c:pt idx="107">
                  <c:v>154609</c:v>
                </c:pt>
                <c:pt idx="108">
                  <c:v>156629</c:v>
                </c:pt>
                <c:pt idx="109">
                  <c:v>160889</c:v>
                </c:pt>
                <c:pt idx="110">
                  <c:v>161563</c:v>
                </c:pt>
                <c:pt idx="111">
                  <c:v>158159</c:v>
                </c:pt>
                <c:pt idx="112">
                  <c:v>155688</c:v>
                </c:pt>
                <c:pt idx="113">
                  <c:v>152751</c:v>
                </c:pt>
                <c:pt idx="114">
                  <c:v>153081</c:v>
                </c:pt>
                <c:pt idx="115">
                  <c:v>152939</c:v>
                </c:pt>
                <c:pt idx="116">
                  <c:v>152714</c:v>
                </c:pt>
                <c:pt idx="117">
                  <c:v>151568</c:v>
                </c:pt>
                <c:pt idx="118">
                  <c:v>152756</c:v>
                </c:pt>
                <c:pt idx="119">
                  <c:v>154617</c:v>
                </c:pt>
                <c:pt idx="120">
                  <c:v>152967</c:v>
                </c:pt>
                <c:pt idx="121">
                  <c:v>150973</c:v>
                </c:pt>
                <c:pt idx="122">
                  <c:v>147109</c:v>
                </c:pt>
                <c:pt idx="123">
                  <c:v>148248</c:v>
                </c:pt>
                <c:pt idx="124">
                  <c:v>148542</c:v>
                </c:pt>
                <c:pt idx="125">
                  <c:v>148276</c:v>
                </c:pt>
                <c:pt idx="126">
                  <c:v>150459</c:v>
                </c:pt>
                <c:pt idx="127">
                  <c:v>147567</c:v>
                </c:pt>
                <c:pt idx="128">
                  <c:v>146521</c:v>
                </c:pt>
              </c:numCache>
            </c:numRef>
          </c:val>
          <c:smooth val="0"/>
        </c:ser>
        <c:ser>
          <c:idx val="2"/>
          <c:order val="2"/>
          <c:tx>
            <c:strRef>
              <c:f>Sheet1!$D$1</c:f>
              <c:strCache>
                <c:ptCount val="1"/>
                <c:pt idx="0">
                  <c:v>GOLDGUINEA</c:v>
                </c:pt>
              </c:strCache>
            </c:strRef>
          </c:tx>
          <c:spPr>
            <a:solidFill>
              <a:srgbClr val="F07A8C"/>
            </a:solidFill>
            <a:ln w="22225" cap="flat">
              <a:solidFill>
                <a:srgbClr val="F07A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07A8C"/>
              </a:solidFill>
              <a:ln w="9525" cap="flat">
                <a:solidFill>
                  <a:srgbClr val="F07A8C"/>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Sheet1!$D$2:$D$130</c:f>
              <c:numCache>
                <c:formatCode>General</c:formatCode>
                <c:ptCount val="129"/>
                <c:pt idx="0">
                  <c:v>130470</c:v>
                </c:pt>
                <c:pt idx="1">
                  <c:v>130421</c:v>
                </c:pt>
                <c:pt idx="2">
                  <c:v>121580</c:v>
                </c:pt>
                <c:pt idx="3">
                  <c:v>123231</c:v>
                </c:pt>
                <c:pt idx="4">
                  <c:v>121888</c:v>
                </c:pt>
                <c:pt idx="5">
                  <c:v>122055</c:v>
                </c:pt>
                <c:pt idx="6">
                  <c:v>122744</c:v>
                </c:pt>
                <c:pt idx="7">
                  <c:v>121902</c:v>
                </c:pt>
                <c:pt idx="8">
                  <c:v>122366</c:v>
                </c:pt>
                <c:pt idx="9">
                  <c:v>125141</c:v>
                </c:pt>
                <c:pt idx="10">
                  <c:v>127934</c:v>
                </c:pt>
                <c:pt idx="11">
                  <c:v>124580</c:v>
                </c:pt>
                <c:pt idx="12">
                  <c:v>124672</c:v>
                </c:pt>
                <c:pt idx="13">
                  <c:v>125102</c:v>
                </c:pt>
                <c:pt idx="14">
                  <c:v>126869</c:v>
                </c:pt>
                <c:pt idx="15">
                  <c:v>127125</c:v>
                </c:pt>
                <c:pt idx="16">
                  <c:v>130506</c:v>
                </c:pt>
                <c:pt idx="17">
                  <c:v>130506</c:v>
                </c:pt>
                <c:pt idx="18">
                  <c:v>130471</c:v>
                </c:pt>
                <c:pt idx="19">
                  <c:v>130476</c:v>
                </c:pt>
                <c:pt idx="20">
                  <c:v>132132</c:v>
                </c:pt>
                <c:pt idx="21">
                  <c:v>134129</c:v>
                </c:pt>
                <c:pt idx="22">
                  <c:v>134841</c:v>
                </c:pt>
                <c:pt idx="23">
                  <c:v>134221</c:v>
                </c:pt>
                <c:pt idx="24">
                  <c:v>137482</c:v>
                </c:pt>
                <c:pt idx="25">
                  <c:v>138881</c:v>
                </c:pt>
                <c:pt idx="26">
                  <c:v>138644</c:v>
                </c:pt>
                <c:pt idx="27">
                  <c:v>139920</c:v>
                </c:pt>
                <c:pt idx="28">
                  <c:v>141432</c:v>
                </c:pt>
                <c:pt idx="29">
                  <c:v>141348</c:v>
                </c:pt>
                <c:pt idx="30">
                  <c:v>141195</c:v>
                </c:pt>
                <c:pt idx="31">
                  <c:v>144059</c:v>
                </c:pt>
                <c:pt idx="32">
                  <c:v>145310</c:v>
                </c:pt>
                <c:pt idx="33">
                  <c:v>147441</c:v>
                </c:pt>
                <c:pt idx="34">
                  <c:v>161275</c:v>
                </c:pt>
                <c:pt idx="35">
                  <c:v>163632</c:v>
                </c:pt>
                <c:pt idx="36">
                  <c:v>173981</c:v>
                </c:pt>
                <c:pt idx="37">
                  <c:v>175350</c:v>
                </c:pt>
                <c:pt idx="38">
                  <c:v>158550</c:v>
                </c:pt>
                <c:pt idx="39">
                  <c:v>156890</c:v>
                </c:pt>
                <c:pt idx="40">
                  <c:v>162012</c:v>
                </c:pt>
                <c:pt idx="41">
                  <c:v>161534</c:v>
                </c:pt>
                <c:pt idx="42">
                  <c:v>158618</c:v>
                </c:pt>
                <c:pt idx="43">
                  <c:v>154948</c:v>
                </c:pt>
                <c:pt idx="44">
                  <c:v>157655</c:v>
                </c:pt>
                <c:pt idx="45">
                  <c:v>161220</c:v>
                </c:pt>
                <c:pt idx="46">
                  <c:v>160840</c:v>
                </c:pt>
                <c:pt idx="47">
                  <c:v>161985</c:v>
                </c:pt>
                <c:pt idx="48">
                  <c:v>165876</c:v>
                </c:pt>
                <c:pt idx="49">
                  <c:v>164244</c:v>
                </c:pt>
                <c:pt idx="50">
                  <c:v>164006</c:v>
                </c:pt>
                <c:pt idx="51">
                  <c:v>165026</c:v>
                </c:pt>
                <c:pt idx="52">
                  <c:v>162309</c:v>
                </c:pt>
                <c:pt idx="53">
                  <c:v>159550</c:v>
                </c:pt>
                <c:pt idx="54">
                  <c:v>148172</c:v>
                </c:pt>
                <c:pt idx="55">
                  <c:v>142585</c:v>
                </c:pt>
                <c:pt idx="56">
                  <c:v>144584</c:v>
                </c:pt>
                <c:pt idx="57">
                  <c:v>144049</c:v>
                </c:pt>
                <c:pt idx="58">
                  <c:v>149992</c:v>
                </c:pt>
                <c:pt idx="59">
                  <c:v>149140</c:v>
                </c:pt>
                <c:pt idx="60">
                  <c:v>149782</c:v>
                </c:pt>
                <c:pt idx="61">
                  <c:v>153024</c:v>
                </c:pt>
                <c:pt idx="62">
                  <c:v>151770</c:v>
                </c:pt>
                <c:pt idx="63">
                  <c:v>153405</c:v>
                </c:pt>
                <c:pt idx="64">
                  <c:v>154166</c:v>
                </c:pt>
                <c:pt idx="65">
                  <c:v>151738</c:v>
                </c:pt>
                <c:pt idx="66">
                  <c:v>151949</c:v>
                </c:pt>
                <c:pt idx="67">
                  <c:v>150692</c:v>
                </c:pt>
                <c:pt idx="68">
                  <c:v>149330</c:v>
                </c:pt>
                <c:pt idx="69">
                  <c:v>152366</c:v>
                </c:pt>
                <c:pt idx="70">
                  <c:v>151035</c:v>
                </c:pt>
                <c:pt idx="71">
                  <c:v>153226</c:v>
                </c:pt>
                <c:pt idx="72">
                  <c:v>154092</c:v>
                </c:pt>
                <c:pt idx="73">
                  <c:v>162654</c:v>
                </c:pt>
                <c:pt idx="74">
                  <c:v>159251</c:v>
                </c:pt>
                <c:pt idx="75">
                  <c:v>159028</c:v>
                </c:pt>
                <c:pt idx="76">
                  <c:v>159725</c:v>
                </c:pt>
                <c:pt idx="77">
                  <c:v>159308</c:v>
                </c:pt>
                <c:pt idx="78">
                  <c:v>155364</c:v>
                </c:pt>
                <c:pt idx="79">
                  <c:v>157034</c:v>
                </c:pt>
                <c:pt idx="80">
                  <c:v>158159</c:v>
                </c:pt>
                <c:pt idx="81">
                  <c:v>158259</c:v>
                </c:pt>
                <c:pt idx="82">
                  <c:v>154069</c:v>
                </c:pt>
                <c:pt idx="83">
                  <c:v>147868</c:v>
                </c:pt>
                <c:pt idx="84">
                  <c:v>149794</c:v>
                </c:pt>
                <c:pt idx="85">
                  <c:v>152022</c:v>
                </c:pt>
                <c:pt idx="86">
                  <c:v>148694</c:v>
                </c:pt>
                <c:pt idx="87">
                  <c:v>147545</c:v>
                </c:pt>
                <c:pt idx="88">
                  <c:v>140690</c:v>
                </c:pt>
                <c:pt idx="89">
                  <c:v>142935</c:v>
                </c:pt>
                <c:pt idx="90">
                  <c:v>142931</c:v>
                </c:pt>
                <c:pt idx="91">
                  <c:v>146695</c:v>
                </c:pt>
                <c:pt idx="92">
                  <c:v>147771</c:v>
                </c:pt>
                <c:pt idx="93">
                  <c:v>144576</c:v>
                </c:pt>
                <c:pt idx="94">
                  <c:v>144502</c:v>
                </c:pt>
                <c:pt idx="95">
                  <c:v>143366</c:v>
                </c:pt>
                <c:pt idx="96">
                  <c:v>141618</c:v>
                </c:pt>
                <c:pt idx="97">
                  <c:v>142772</c:v>
                </c:pt>
                <c:pt idx="98">
                  <c:v>146036</c:v>
                </c:pt>
                <c:pt idx="99">
                  <c:v>143680</c:v>
                </c:pt>
                <c:pt idx="100">
                  <c:v>141564</c:v>
                </c:pt>
                <c:pt idx="101">
                  <c:v>143404</c:v>
                </c:pt>
                <c:pt idx="102">
                  <c:v>143162</c:v>
                </c:pt>
                <c:pt idx="103">
                  <c:v>147511</c:v>
                </c:pt>
                <c:pt idx="104">
                  <c:v>151120</c:v>
                </c:pt>
                <c:pt idx="105">
                  <c:v>153110</c:v>
                </c:pt>
                <c:pt idx="106">
                  <c:v>153098</c:v>
                </c:pt>
                <c:pt idx="107">
                  <c:v>155222</c:v>
                </c:pt>
                <c:pt idx="108">
                  <c:v>157219</c:v>
                </c:pt>
                <c:pt idx="109">
                  <c:v>161446</c:v>
                </c:pt>
                <c:pt idx="110">
                  <c:v>162048</c:v>
                </c:pt>
                <c:pt idx="111">
                  <c:v>157829</c:v>
                </c:pt>
                <c:pt idx="112">
                  <c:v>157326</c:v>
                </c:pt>
                <c:pt idx="113">
                  <c:v>153312</c:v>
                </c:pt>
                <c:pt idx="114">
                  <c:v>153641</c:v>
                </c:pt>
                <c:pt idx="115">
                  <c:v>153559</c:v>
                </c:pt>
                <c:pt idx="116">
                  <c:v>153080</c:v>
                </c:pt>
                <c:pt idx="117">
                  <c:v>151961</c:v>
                </c:pt>
                <c:pt idx="118">
                  <c:v>153155</c:v>
                </c:pt>
                <c:pt idx="119">
                  <c:v>154826</c:v>
                </c:pt>
                <c:pt idx="120">
                  <c:v>153270</c:v>
                </c:pt>
                <c:pt idx="121">
                  <c:v>151368</c:v>
                </c:pt>
                <c:pt idx="122">
                  <c:v>147588</c:v>
                </c:pt>
                <c:pt idx="123">
                  <c:v>149218</c:v>
                </c:pt>
                <c:pt idx="124">
                  <c:v>149276</c:v>
                </c:pt>
                <c:pt idx="125">
                  <c:v>148842</c:v>
                </c:pt>
                <c:pt idx="126">
                  <c:v>150938</c:v>
                </c:pt>
                <c:pt idx="127">
                  <c:v>148364</c:v>
                </c:pt>
                <c:pt idx="128">
                  <c:v>147281</c:v>
                </c:pt>
              </c:numCache>
            </c:numRef>
          </c:val>
          <c:smooth val="0"/>
        </c:ser>
        <c:ser>
          <c:idx val="3"/>
          <c:order val="3"/>
          <c:tx>
            <c:strRef>
              <c:f>Sheet1!$E$1</c:f>
              <c:strCache>
                <c:ptCount val="1"/>
                <c:pt idx="0">
                  <c:v>GOLDPETAL</c:v>
                </c:pt>
              </c:strCache>
            </c:strRef>
          </c:tx>
          <c:spPr>
            <a:solidFill>
              <a:srgbClr val="3CC9A7"/>
            </a:solidFill>
            <a:ln w="22225" cap="flat">
              <a:solidFill>
                <a:srgbClr val="3CC9A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CC9A7"/>
              </a:solidFill>
              <a:ln w="9525" cap="flat">
                <a:solidFill>
                  <a:srgbClr val="3CC9A7"/>
                </a:solidFill>
                <a:prstDash val="solid"/>
                <a:round/>
              </a:ln>
              <a:effectLst/>
            </c:spPr>
          </c:marker>
          <c:cat>
            <c:multiLvlStrRef>
              <c:f>Sheet1!$A$2:$A$130</c:f>
              <c:multiLvlStrCache>
                <c:ptCount val="129"/>
                <c:lvl>
                  <c:pt idx="0">
                    <c:v>Oct 25</c:v>
                  </c:pt>
                  <c:pt idx="1">
                    <c:v>Oct 25</c:v>
                  </c:pt>
                  <c:pt idx="2">
                    <c:v>Oct 25</c:v>
                  </c:pt>
                  <c:pt idx="3">
                    <c:v>Oct 25</c:v>
                  </c:pt>
                  <c:pt idx="4">
                    <c:v>Oct 25</c:v>
                  </c:pt>
                  <c:pt idx="5">
                    <c:v>Oct 25</c:v>
                  </c:pt>
                  <c:pt idx="6">
                    <c:v>Nov 25</c:v>
                  </c:pt>
                  <c:pt idx="7">
                    <c:v>Nov 25</c:v>
                  </c:pt>
                  <c:pt idx="8">
                    <c:v>Nov 25</c:v>
                  </c:pt>
                  <c:pt idx="9">
                    <c:v>Nov 25</c:v>
                  </c:pt>
                  <c:pt idx="10">
                    <c:v>Nov 25</c:v>
                  </c:pt>
                  <c:pt idx="11">
                    <c:v>Nov 25</c:v>
                  </c:pt>
                  <c:pt idx="12">
                    <c:v>Nov 25</c:v>
                  </c:pt>
                  <c:pt idx="13">
                    <c:v>Nov 25</c:v>
                  </c:pt>
                  <c:pt idx="14">
                    <c:v>Nov 25</c:v>
                  </c:pt>
                  <c:pt idx="15">
                    <c:v>Nov 25</c:v>
                  </c:pt>
                  <c:pt idx="16">
                    <c:v>Dec 25</c:v>
                  </c:pt>
                  <c:pt idx="17">
                    <c:v>Dec 25</c:v>
                  </c:pt>
                  <c:pt idx="18">
                    <c:v>Dec 25</c:v>
                  </c:pt>
                  <c:pt idx="19">
                    <c:v>Dec 25</c:v>
                  </c:pt>
                  <c:pt idx="20">
                    <c:v>Dec 25</c:v>
                  </c:pt>
                  <c:pt idx="21">
                    <c:v>Dec 25</c:v>
                  </c:pt>
                  <c:pt idx="22">
                    <c:v>Dec 25</c:v>
                  </c:pt>
                  <c:pt idx="23">
                    <c:v>Dec 25</c:v>
                  </c:pt>
                  <c:pt idx="24">
                    <c:v>Dec 25</c:v>
                  </c:pt>
                  <c:pt idx="25">
                    <c:v>Dec 25</c:v>
                  </c:pt>
                  <c:pt idx="26">
                    <c:v>Dec 25</c:v>
                  </c:pt>
                  <c:pt idx="27">
                    <c:v>Jan 26</c:v>
                  </c:pt>
                  <c:pt idx="28">
                    <c:v>Jan 26</c:v>
                  </c:pt>
                  <c:pt idx="29">
                    <c:v>Jan 26</c:v>
                  </c:pt>
                  <c:pt idx="30">
                    <c:v>Jan 26</c:v>
                  </c:pt>
                  <c:pt idx="31">
                    <c:v>Jan 26</c:v>
                  </c:pt>
                  <c:pt idx="32">
                    <c:v>Jan 26</c:v>
                  </c:pt>
                  <c:pt idx="33">
                    <c:v>Jan 26</c:v>
                  </c:pt>
                  <c:pt idx="34">
                    <c:v>Jan 26</c:v>
                  </c:pt>
                  <c:pt idx="35">
                    <c:v>Jan 26</c:v>
                  </c:pt>
                  <c:pt idx="36">
                    <c:v>Jan 26</c:v>
                  </c:pt>
                  <c:pt idx="37">
                    <c:v>Jan 26</c:v>
                  </c:pt>
                  <c:pt idx="38">
                    <c:v>Feb 26</c:v>
                  </c:pt>
                  <c:pt idx="39">
                    <c:v>Feb 26</c:v>
                  </c:pt>
                  <c:pt idx="40">
                    <c:v>Feb 26</c:v>
                  </c:pt>
                  <c:pt idx="41">
                    <c:v>Feb 26</c:v>
                  </c:pt>
                  <c:pt idx="42">
                    <c:v>Feb 26</c:v>
                  </c:pt>
                  <c:pt idx="43">
                    <c:v>Feb 26</c:v>
                  </c:pt>
                  <c:pt idx="44">
                    <c:v>Feb 26</c:v>
                  </c:pt>
                  <c:pt idx="45">
                    <c:v>Feb 26</c:v>
                  </c:pt>
                  <c:pt idx="46">
                    <c:v>Feb 26</c:v>
                  </c:pt>
                  <c:pt idx="47">
                    <c:v>Feb 26</c:v>
                  </c:pt>
                  <c:pt idx="48">
                    <c:v>Mar 26</c:v>
                  </c:pt>
                  <c:pt idx="49">
                    <c:v>Mar 26</c:v>
                  </c:pt>
                  <c:pt idx="50">
                    <c:v>Mar 26</c:v>
                  </c:pt>
                  <c:pt idx="51">
                    <c:v>Mar 26</c:v>
                  </c:pt>
                  <c:pt idx="52">
                    <c:v>Mar 26</c:v>
                  </c:pt>
                  <c:pt idx="53">
                    <c:v>Mar 26</c:v>
                  </c:pt>
                  <c:pt idx="54">
                    <c:v>Mar 26</c:v>
                  </c:pt>
                  <c:pt idx="55">
                    <c:v>Mar 26</c:v>
                  </c:pt>
                  <c:pt idx="56">
                    <c:v>Mar 26</c:v>
                  </c:pt>
                  <c:pt idx="57">
                    <c:v>Mar 26</c:v>
                  </c:pt>
                  <c:pt idx="58">
                    <c:v>Mar 26</c:v>
                  </c:pt>
                  <c:pt idx="59">
                    <c:v>Apr 26</c:v>
                  </c:pt>
                  <c:pt idx="60">
                    <c:v>Apr 26</c:v>
                  </c:pt>
                  <c:pt idx="61">
                    <c:v>Apr 26</c:v>
                  </c:pt>
                  <c:pt idx="62">
                    <c:v>Apr 26</c:v>
                  </c:pt>
                  <c:pt idx="63">
                    <c:v>Apr 26</c:v>
                  </c:pt>
                  <c:pt idx="64">
                    <c:v>Apr 26</c:v>
                  </c:pt>
                  <c:pt idx="65">
                    <c:v>Apr 26</c:v>
                  </c:pt>
                  <c:pt idx="66">
                    <c:v>Apr 26</c:v>
                  </c:pt>
                  <c:pt idx="67">
                    <c:v>Apr 26</c:v>
                  </c:pt>
                  <c:pt idx="68">
                    <c:v>Apr 26</c:v>
                  </c:pt>
                  <c:pt idx="69">
                    <c:v>May 26</c:v>
                  </c:pt>
                  <c:pt idx="70">
                    <c:v>May 26</c:v>
                  </c:pt>
                  <c:pt idx="71">
                    <c:v>May 26</c:v>
                  </c:pt>
                  <c:pt idx="72">
                    <c:v>May 26</c:v>
                  </c:pt>
                  <c:pt idx="73">
                    <c:v>May 26</c:v>
                  </c:pt>
                  <c:pt idx="74">
                    <c:v>May 26</c:v>
                  </c:pt>
                  <c:pt idx="75">
                    <c:v>May 26</c:v>
                  </c:pt>
                  <c:pt idx="76">
                    <c:v>May 26</c:v>
                  </c:pt>
                  <c:pt idx="77">
                    <c:v>May 26</c:v>
                  </c:pt>
                  <c:pt idx="78">
                    <c:v>May 26</c:v>
                  </c:pt>
                  <c:pt idx="79">
                    <c:v>May 26</c:v>
                  </c:pt>
                  <c:pt idx="80">
                    <c:v>Jun 26</c:v>
                  </c:pt>
                  <c:pt idx="81">
                    <c:v>Jun 26</c:v>
                  </c:pt>
                  <c:pt idx="82">
                    <c:v>Jun 26</c:v>
                  </c:pt>
                  <c:pt idx="83">
                    <c:v>Jun 26</c:v>
                  </c:pt>
                  <c:pt idx="84">
                    <c:v>Jun 26</c:v>
                  </c:pt>
                  <c:pt idx="85">
                    <c:v>Jun 26</c:v>
                  </c:pt>
                  <c:pt idx="86">
                    <c:v>Jun 26</c:v>
                  </c:pt>
                  <c:pt idx="87">
                    <c:v>Jun 26</c:v>
                  </c:pt>
                  <c:pt idx="88">
                    <c:v>Jun 26</c:v>
                  </c:pt>
                  <c:pt idx="89">
                    <c:v>Jun 26</c:v>
                  </c:pt>
                  <c:pt idx="90">
                    <c:v>Jun 26</c:v>
                  </c:pt>
                  <c:pt idx="91">
                    <c:v>Jul 26</c:v>
                  </c:pt>
                  <c:pt idx="92">
                    <c:v>Jul 26</c:v>
                  </c:pt>
                  <c:pt idx="93">
                    <c:v>Jul 26</c:v>
                  </c:pt>
                  <c:pt idx="94">
                    <c:v>Jul 26</c:v>
                  </c:pt>
                  <c:pt idx="95">
                    <c:v>Jul 26</c:v>
                  </c:pt>
                  <c:pt idx="96">
                    <c:v>Jul 26</c:v>
                  </c:pt>
                  <c:pt idx="97">
                    <c:v>Jul 26</c:v>
                  </c:pt>
                  <c:pt idx="98">
                    <c:v>Jul 26</c:v>
                  </c:pt>
                  <c:pt idx="99">
                    <c:v>Jul 26</c:v>
                  </c:pt>
                  <c:pt idx="100">
                    <c:v>Jul 26</c:v>
                  </c:pt>
                  <c:pt idx="101">
                    <c:v>Jul 26</c:v>
                  </c:pt>
                  <c:pt idx="102">
                    <c:v>Aug 26</c:v>
                  </c:pt>
                  <c:pt idx="103">
                    <c:v>Aug 26</c:v>
                  </c:pt>
                  <c:pt idx="104">
                    <c:v>Aug 26</c:v>
                  </c:pt>
                  <c:pt idx="105">
                    <c:v>Aug 26</c:v>
                  </c:pt>
                  <c:pt idx="106">
                    <c:v>Aug 26</c:v>
                  </c:pt>
                  <c:pt idx="107">
                    <c:v>Aug 26</c:v>
                  </c:pt>
                  <c:pt idx="108">
                    <c:v>Aug 26</c:v>
                  </c:pt>
                  <c:pt idx="109">
                    <c:v>Aug 26</c:v>
                  </c:pt>
                  <c:pt idx="110">
                    <c:v>Aug 26</c:v>
                  </c:pt>
                  <c:pt idx="111">
                    <c:v>Aug 26</c:v>
                  </c:pt>
                  <c:pt idx="112">
                    <c:v>Aug 26</c:v>
                  </c:pt>
                  <c:pt idx="113">
                    <c:v>Sep 26</c:v>
                  </c:pt>
                  <c:pt idx="114">
                    <c:v>Sep 26</c:v>
                  </c:pt>
                  <c:pt idx="115">
                    <c:v>Sep 26</c:v>
                  </c:pt>
                  <c:pt idx="116">
                    <c:v>Sep 26</c:v>
                  </c:pt>
                  <c:pt idx="117">
                    <c:v>Sep 26</c:v>
                  </c:pt>
                  <c:pt idx="118">
                    <c:v>Sep 26</c:v>
                  </c:pt>
                  <c:pt idx="119">
                    <c:v>Sep 26</c:v>
                  </c:pt>
                  <c:pt idx="120">
                    <c:v>Sep 26</c:v>
                  </c:pt>
                  <c:pt idx="121">
                    <c:v>Sep 26</c:v>
                  </c:pt>
                  <c:pt idx="122">
                    <c:v>Sep 26</c:v>
                  </c:pt>
                  <c:pt idx="123">
                    <c:v>Sep 26</c:v>
                  </c:pt>
                  <c:pt idx="124">
                    <c:v>Oct 26</c:v>
                  </c:pt>
                  <c:pt idx="125">
                    <c:v>Oct 26</c:v>
                  </c:pt>
                  <c:pt idx="126">
                    <c:v>Oct 26</c:v>
                  </c:pt>
                  <c:pt idx="127">
                    <c:v>Oct 26</c:v>
                  </c:pt>
                  <c:pt idx="128">
                    <c:v>Oct 26</c:v>
                  </c:pt>
                </c:lvl>
              </c:multiLvlStrCache>
            </c:multiLvlStrRef>
          </c:cat>
          <c:val>
            <c:numRef>
              <c:f>Sheet1!$E$2:$E$130</c:f>
              <c:numCache>
                <c:formatCode>General</c:formatCode>
                <c:ptCount val="129"/>
                <c:pt idx="0">
                  <c:v>130440</c:v>
                </c:pt>
                <c:pt idx="1">
                  <c:v>130700</c:v>
                </c:pt>
                <c:pt idx="2">
                  <c:v>122090</c:v>
                </c:pt>
                <c:pt idx="3">
                  <c:v>123460</c:v>
                </c:pt>
                <c:pt idx="4">
                  <c:v>120290</c:v>
                </c:pt>
                <c:pt idx="5">
                  <c:v>121810</c:v>
                </c:pt>
                <c:pt idx="6">
                  <c:v>122820</c:v>
                </c:pt>
                <c:pt idx="7">
                  <c:v>121980</c:v>
                </c:pt>
                <c:pt idx="8">
                  <c:v>122450</c:v>
                </c:pt>
                <c:pt idx="9">
                  <c:v>125280</c:v>
                </c:pt>
                <c:pt idx="10">
                  <c:v>128000</c:v>
                </c:pt>
                <c:pt idx="11">
                  <c:v>124680</c:v>
                </c:pt>
                <c:pt idx="12">
                  <c:v>124880</c:v>
                </c:pt>
                <c:pt idx="13">
                  <c:v>125500</c:v>
                </c:pt>
                <c:pt idx="14">
                  <c:v>126640</c:v>
                </c:pt>
                <c:pt idx="15">
                  <c:v>127760</c:v>
                </c:pt>
                <c:pt idx="16">
                  <c:v>131010</c:v>
                </c:pt>
                <c:pt idx="17">
                  <c:v>130820</c:v>
                </c:pt>
                <c:pt idx="18">
                  <c:v>130690</c:v>
                </c:pt>
                <c:pt idx="19">
                  <c:v>130650</c:v>
                </c:pt>
                <c:pt idx="20">
                  <c:v>132390</c:v>
                </c:pt>
                <c:pt idx="21">
                  <c:v>134380</c:v>
                </c:pt>
                <c:pt idx="22">
                  <c:v>134900</c:v>
                </c:pt>
                <c:pt idx="23">
                  <c:v>134400</c:v>
                </c:pt>
                <c:pt idx="24">
                  <c:v>137630</c:v>
                </c:pt>
                <c:pt idx="25">
                  <c:v>139750</c:v>
                </c:pt>
                <c:pt idx="26">
                  <c:v>137040</c:v>
                </c:pt>
                <c:pt idx="27">
                  <c:v>139440</c:v>
                </c:pt>
                <c:pt idx="28">
                  <c:v>141430</c:v>
                </c:pt>
                <c:pt idx="29">
                  <c:v>141130</c:v>
                </c:pt>
                <c:pt idx="30">
                  <c:v>141130</c:v>
                </c:pt>
                <c:pt idx="31">
                  <c:v>144200</c:v>
                </c:pt>
                <c:pt idx="32">
                  <c:v>145420</c:v>
                </c:pt>
                <c:pt idx="33">
                  <c:v>147900</c:v>
                </c:pt>
                <c:pt idx="34">
                  <c:v>160580</c:v>
                </c:pt>
                <c:pt idx="35">
                  <c:v>163930</c:v>
                </c:pt>
                <c:pt idx="36">
                  <c:v>171040</c:v>
                </c:pt>
                <c:pt idx="37">
                  <c:v>176320</c:v>
                </c:pt>
                <c:pt idx="38">
                  <c:v>157950</c:v>
                </c:pt>
                <c:pt idx="39">
                  <c:v>156380</c:v>
                </c:pt>
                <c:pt idx="40">
                  <c:v>161630</c:v>
                </c:pt>
                <c:pt idx="41">
                  <c:v>161780</c:v>
                </c:pt>
                <c:pt idx="42">
                  <c:v>158980</c:v>
                </c:pt>
                <c:pt idx="43">
                  <c:v>154730</c:v>
                </c:pt>
                <c:pt idx="44">
                  <c:v>158300</c:v>
                </c:pt>
                <c:pt idx="45">
                  <c:v>162490</c:v>
                </c:pt>
                <c:pt idx="46">
                  <c:v>162760</c:v>
                </c:pt>
                <c:pt idx="47">
                  <c:v>162480</c:v>
                </c:pt>
                <c:pt idx="48">
                  <c:v>166430</c:v>
                </c:pt>
                <c:pt idx="49">
                  <c:v>164990</c:v>
                </c:pt>
                <c:pt idx="50">
                  <c:v>164960</c:v>
                </c:pt>
                <c:pt idx="51">
                  <c:v>165980</c:v>
                </c:pt>
                <c:pt idx="52">
                  <c:v>162910</c:v>
                </c:pt>
                <c:pt idx="53">
                  <c:v>160030</c:v>
                </c:pt>
                <c:pt idx="54">
                  <c:v>148520</c:v>
                </c:pt>
                <c:pt idx="55">
                  <c:v>143030</c:v>
                </c:pt>
                <c:pt idx="56">
                  <c:v>144650</c:v>
                </c:pt>
                <c:pt idx="57">
                  <c:v>145280</c:v>
                </c:pt>
                <c:pt idx="58">
                  <c:v>150360</c:v>
                </c:pt>
                <c:pt idx="59">
                  <c:v>149350</c:v>
                </c:pt>
                <c:pt idx="60">
                  <c:v>150150</c:v>
                </c:pt>
                <c:pt idx="61">
                  <c:v>153320</c:v>
                </c:pt>
                <c:pt idx="62">
                  <c:v>152110</c:v>
                </c:pt>
                <c:pt idx="63">
                  <c:v>153810</c:v>
                </c:pt>
                <c:pt idx="64">
                  <c:v>154460</c:v>
                </c:pt>
                <c:pt idx="65">
                  <c:v>152200</c:v>
                </c:pt>
                <c:pt idx="66">
                  <c:v>152190</c:v>
                </c:pt>
                <c:pt idx="67">
                  <c:v>150980</c:v>
                </c:pt>
                <c:pt idx="68">
                  <c:v>149400</c:v>
                </c:pt>
                <c:pt idx="69">
                  <c:v>152740</c:v>
                </c:pt>
                <c:pt idx="70">
                  <c:v>151480</c:v>
                </c:pt>
                <c:pt idx="71">
                  <c:v>153630</c:v>
                </c:pt>
                <c:pt idx="72">
                  <c:v>154460</c:v>
                </c:pt>
                <c:pt idx="73">
                  <c:v>162860</c:v>
                </c:pt>
                <c:pt idx="74">
                  <c:v>159580</c:v>
                </c:pt>
                <c:pt idx="75">
                  <c:v>159370</c:v>
                </c:pt>
                <c:pt idx="76">
                  <c:v>159990</c:v>
                </c:pt>
                <c:pt idx="77">
                  <c:v>159410</c:v>
                </c:pt>
                <c:pt idx="78">
                  <c:v>156200</c:v>
                </c:pt>
                <c:pt idx="79">
                  <c:v>157230</c:v>
                </c:pt>
                <c:pt idx="80">
                  <c:v>158400</c:v>
                </c:pt>
                <c:pt idx="81">
                  <c:v>158510</c:v>
                </c:pt>
                <c:pt idx="82">
                  <c:v>154360</c:v>
                </c:pt>
                <c:pt idx="83">
                  <c:v>147940</c:v>
                </c:pt>
                <c:pt idx="84">
                  <c:v>149890</c:v>
                </c:pt>
                <c:pt idx="85">
                  <c:v>151990</c:v>
                </c:pt>
                <c:pt idx="86">
                  <c:v>148630</c:v>
                </c:pt>
                <c:pt idx="87">
                  <c:v>147450</c:v>
                </c:pt>
                <c:pt idx="88">
                  <c:v>140850</c:v>
                </c:pt>
                <c:pt idx="89">
                  <c:v>143170</c:v>
                </c:pt>
                <c:pt idx="90">
                  <c:v>142600</c:v>
                </c:pt>
                <c:pt idx="91">
                  <c:v>146660</c:v>
                </c:pt>
                <c:pt idx="92">
                  <c:v>147820</c:v>
                </c:pt>
                <c:pt idx="93">
                  <c:v>144610</c:v>
                </c:pt>
                <c:pt idx="94">
                  <c:v>144420</c:v>
                </c:pt>
                <c:pt idx="95">
                  <c:v>143300</c:v>
                </c:pt>
                <c:pt idx="96">
                  <c:v>141530</c:v>
                </c:pt>
                <c:pt idx="97">
                  <c:v>142680</c:v>
                </c:pt>
                <c:pt idx="98">
                  <c:v>146040</c:v>
                </c:pt>
                <c:pt idx="99">
                  <c:v>143540</c:v>
                </c:pt>
                <c:pt idx="100">
                  <c:v>141510</c:v>
                </c:pt>
                <c:pt idx="101">
                  <c:v>143830</c:v>
                </c:pt>
                <c:pt idx="102">
                  <c:v>143240</c:v>
                </c:pt>
                <c:pt idx="103">
                  <c:v>147700</c:v>
                </c:pt>
                <c:pt idx="104">
                  <c:v>151180</c:v>
                </c:pt>
                <c:pt idx="105">
                  <c:v>153190</c:v>
                </c:pt>
                <c:pt idx="106">
                  <c:v>153160</c:v>
                </c:pt>
                <c:pt idx="107">
                  <c:v>155220</c:v>
                </c:pt>
                <c:pt idx="108">
                  <c:v>157150</c:v>
                </c:pt>
                <c:pt idx="109">
                  <c:v>161330</c:v>
                </c:pt>
                <c:pt idx="110">
                  <c:v>161960</c:v>
                </c:pt>
                <c:pt idx="111">
                  <c:v>158440</c:v>
                </c:pt>
                <c:pt idx="112">
                  <c:v>156670</c:v>
                </c:pt>
                <c:pt idx="113">
                  <c:v>153290</c:v>
                </c:pt>
                <c:pt idx="114">
                  <c:v>153570</c:v>
                </c:pt>
                <c:pt idx="115">
                  <c:v>153480</c:v>
                </c:pt>
                <c:pt idx="116">
                  <c:v>153130</c:v>
                </c:pt>
                <c:pt idx="117">
                  <c:v>151910</c:v>
                </c:pt>
                <c:pt idx="118">
                  <c:v>152990</c:v>
                </c:pt>
                <c:pt idx="119">
                  <c:v>154800</c:v>
                </c:pt>
                <c:pt idx="120">
                  <c:v>153140</c:v>
                </c:pt>
                <c:pt idx="121">
                  <c:v>151260</c:v>
                </c:pt>
                <c:pt idx="122">
                  <c:v>148290</c:v>
                </c:pt>
                <c:pt idx="123">
                  <c:v>148840</c:v>
                </c:pt>
                <c:pt idx="124">
                  <c:v>149210</c:v>
                </c:pt>
                <c:pt idx="125">
                  <c:v>148870</c:v>
                </c:pt>
                <c:pt idx="126">
                  <c:v>151010</c:v>
                </c:pt>
                <c:pt idx="127">
                  <c:v>148360</c:v>
                </c:pt>
                <c:pt idx="128">
                  <c:v>147270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8A93A6"/>
                </a:solidFill>
                <a:latin typeface="+mn-lt"/>
              </a:defRPr>
            </a:pPr>
            <a:endParaRPr lang="en-US"/>
          </a:p>
        </c:txPr>
        <c:crossAx val="2094734552"/>
        <c:crosses val="autoZero"/>
        <c:auto val="1"/>
        <c:lblAlgn val="ctr"/>
        <c:noMultiLvlLbl val="1"/>
        <c:tickLblSkip val="21"/>
      </c:catAx>
      <c:valAx>
        <c:axId val="2094734552"/>
        <c:scaling>
          <c:orientation val="minMax"/>
          <c:min val="110000"/>
        </c:scaling>
        <c:delete val="0"/>
        <c:axPos val="l"/>
        <c:majorGridlines>
          <c:spPr>
            <a:ln w="9525" cap="flat">
              <a:solidFill>
                <a:srgbClr val="222B3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8A93A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E9EBF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9EBF0"/>
                </a:solidFill>
                <a:latin typeface="+mn-lt"/>
              </a:defRPr>
            </a:pPr>
            <a:r>
              <a:rPr sz="1400" b="0" i="0" u="none" strike="noStrike">
                <a:solidFill>
                  <a:srgbClr val="E9EBF0"/>
                </a:solidFill>
                <a:latin typeface="+mn-lt"/>
              </a:rPr>
              <a:t>Net profit after each fix, ₹ lakh (6 pairs, 973 days)</a:t>
            </a:r>
          </a:p>
        </c:rich>
      </c:tx>
      <c:layout/>
      <c:overlay val="0"/>
    </c:title>
    <c:autoTitleDeleted val="0"/>
    <c:plotArea>
      <c:layout/>
      <c:barChart>
        <c:barDir val="col"/>
        <c:grouping val="clustered"/>
        <c:varyColors val="0"/>
        <c:ser>
          <c:idx val="0"/>
          <c:order val="0"/>
          <c:tx>
            <c:strRef>
              <c:f>Sheet1!$B$1</c:f>
              <c:strCache>
                <c:ptCount val="1"/>
                <c:pt idx="0">
                  <c:v>Net profit (₹ lakh)</c:v>
                </c:pt>
              </c:strCache>
            </c:strRef>
          </c:tx>
          <c:spPr>
            <a:solidFill>
              <a:srgbClr val="8A93A6"/>
            </a:solidFill>
            <a:effectLst/>
          </c:spPr>
          <c:invertIfNegative val="0"/>
          <c:dLbls>
            <c:numFmt formatCode="0.00" sourceLinked="0"/>
            <c:txPr>
              <a:bodyPr/>
              <a:lstStyle/>
              <a:p>
                <a:pPr>
                  <a:defRPr b="0" i="0" strike="noStrike" sz="1100" u="none">
                    <a:solidFill>
                      <a:srgbClr val="E9EBF0"/>
                    </a:solidFill>
                    <a:latin typeface="+mn-lt"/>
                  </a:defRPr>
                </a:pPr>
              </a:p>
            </c:txPr>
            <c:showLegendKey val="0"/>
            <c:showVal val="1"/>
            <c:showCatName val="0"/>
            <c:showSerName val="0"/>
            <c:showPercent val="0"/>
            <c:showBubbleSize val="0"/>
            <c:showLeaderLines val="0"/>
          </c:dLbls>
          <c:dPt>
            <c:idx val="0"/>
            <c:invertIfNegative val="0"/>
            <c:bubble3D val="0"/>
            <c:spPr>
              <a:solidFill>
                <a:srgbClr val="8A93A6"/>
              </a:solidFill>
              <a:effectLst/>
            </c:spPr>
          </c:dPt>
          <c:dPt>
            <c:idx val="1"/>
            <c:invertIfNegative val="0"/>
            <c:bubble3D val="0"/>
            <c:spPr>
              <a:solidFill>
                <a:srgbClr val="8A93A6"/>
              </a:solidFill>
              <a:effectLst/>
            </c:spPr>
          </c:dPt>
          <c:dPt>
            <c:idx val="2"/>
            <c:invertIfNegative val="0"/>
            <c:bubble3D val="0"/>
            <c:spPr>
              <a:solidFill>
                <a:srgbClr val="8A93A6"/>
              </a:solidFill>
              <a:effectLst/>
            </c:spPr>
          </c:dPt>
          <c:dPt>
            <c:idx val="3"/>
            <c:invertIfNegative val="0"/>
            <c:bubble3D val="0"/>
            <c:spPr>
              <a:solidFill>
                <a:srgbClr val="E0B04A"/>
              </a:solidFill>
              <a:effectLst/>
            </c:spPr>
          </c:dPt>
          <c:dPt>
            <c:idx val="4"/>
            <c:invertIfNegative val="0"/>
            <c:bubble3D val="0"/>
            <c:spPr>
              <a:solidFill>
                <a:srgbClr val="5B8DEF"/>
              </a:solidFill>
              <a:effectLst/>
            </c:spPr>
          </c:dPt>
          <c:dPt>
            <c:idx val="5"/>
            <c:invertIfNegative val="0"/>
            <c:bubble3D val="0"/>
            <c:spPr>
              <a:solidFill>
                <a:srgbClr val="F0566A"/>
              </a:solidFill>
              <a:effectLst/>
            </c:spPr>
          </c:dPt>
          <c:dPt>
            <c:idx val="6"/>
            <c:invertIfNegative val="0"/>
            <c:bubble3D val="0"/>
            <c:spPr>
              <a:solidFill>
                <a:srgbClr val="F0566A"/>
              </a:solidFill>
              <a:effectLst/>
            </c:spPr>
          </c:dPt>
          <c:cat>
            <c:multiLvlStrRef>
              <c:f>Sheet1!$A$2:$A$8</c:f>
              <c:multiLvlStrCache>
                <c:ptCount val="7"/>
                <c:lvl>
                  <c:pt idx="0">
                    <c:v>Naive</c:v>
                  </c:pt>
                  <c:pt idx="1">
                    <c:v>Gram-matched</c:v>
                  </c:pt>
                  <c:pt idx="2">
                    <c:v>Next-day fill</c:v>
                  </c:pt>
                  <c:pt idx="3">
                    <c:v>Past-only z</c:v>
                  </c:pt>
                  <c:pt idx="4">
                    <c:v>Real contracts</c:v>
                  </c:pt>
                  <c:pt idx="5">
                    <c:v>+ Costs</c:v>
                  </c:pt>
                  <c:pt idx="6">
                    <c:v>+ Liquidity</c:v>
                  </c:pt>
                </c:lvl>
              </c:multiLvlStrCache>
            </c:multiLvlStrRef>
          </c:cat>
          <c:val>
            <c:numRef>
              <c:f>Sheet1!$B$2:$B$8</c:f>
              <c:numCache>
                <c:formatCode>General</c:formatCode>
                <c:ptCount val="7"/>
                <c:pt idx="0">
                  <c:v>1.21</c:v>
                </c:pt>
                <c:pt idx="1">
                  <c:v>20.95</c:v>
                </c:pt>
                <c:pt idx="2">
                  <c:v>8.86</c:v>
                </c:pt>
                <c:pt idx="3">
                  <c:v>25.75</c:v>
                </c:pt>
                <c:pt idx="4">
                  <c:v>2.54</c:v>
                </c:pt>
                <c:pt idx="5">
                  <c:v>-0.03</c:v>
                </c:pt>
                <c:pt idx="6">
                  <c:v>-0.03</c:v>
                </c:pt>
              </c:numCache>
            </c:numRef>
          </c:val>
        </c:ser>
        <c:dLbls>
          <c:numFmt formatCode="0.00" sourceLinked="0"/>
          <c:txPr>
            <a:bodyPr/>
            <a:lstStyle/>
            <a:p>
              <a:pPr>
                <a:defRPr b="0" i="0" strike="noStrike" sz="1100" u="none">
                  <a:solidFill>
                    <a:srgbClr val="E9EBF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8A93A6"/>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8A93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Hack in Hills, powered by TinyFish. We're Team TechFast, and this is GoldLens: honest intelligence for MCX gold futures.
In one line: we put all four MCX gold contracts on one scale, we only raise an alert when a trade would still pay after real Indian trading costs, and we built a lie detector for trading tips.
Everything you'll see runs on 973 trading days of real MCX settlement data, 178 contracts, with 61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MCX sells the same gold four ways. GOLDM, GOLDTEN, GOLDGUINEA and GOLDPETAL have different lot sizes, quote units, purity and expiry dates. GOLDPETAL quotes about fourteen thousand rupees and GOLDM about one lakh forty-six thousand, for the same metal. Nobody can tell at a glance which one is cheap.
Two things make it worse. Most backtests quietly cheat with look-ahead and no costs, and Telegram is full of tips promising forty percent a year, guaranteed.
Why it matters: SEBI's 2024 study found 93 percent of individual F&amp;O traders lost money over three years. Retail traders need honest tools, not more hype.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GoldLens converts every contract to rupees per ten grams of 999 gold: price times ten over its quote grams, times 999 over its purity. On this chart the four lines that looked unrelated collapse onto one.
What makes it different: one scale for all four contracts; alerts that fire only when a trade would pay after real Indian costs; a backtest that's honest by design; and a lie detector for trading tips.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prototype's workflow. We pull MCX's public Bhavcopy every day and validate it. We normalise every contract, fit the futures curve for carry and premium, and score each pair's gap with z-scores built only from past data.
The gate needs three yeses: an unusual gap, liquid legs, and an expected reversion worth at least one and a half times the round-trip cost. Today's best candidate, GOLDM against GOLDPETAL, is liquid and would pay, but at z minus 1.88 it isn't unusual enough. So GoldLens stays quiet. Most days the honest answer is "do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one Python core. Data comes from MCX's public Bhavcopy, with the Upstox live feed already coded for the finale. The ingest layer fetches each day, checks dates and holidays and caches everything as parquet, so the app runs offline.
The analytics core has five modules: normalisation, the carry curve, signals with the cost gate, the walk-forward backtester and the Tip Checker. The AI analyst reads only the core's fact sheet and falls back from Claude to Grok to free OpenRouter models.
The same core feeds the FastAPI website, the Telegram bot and the landing page. 61 automated tests run against it, including one that proves there's no look-ahead.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proof, on real data. Most backtests lie, so ours removes each lie one step at a time, on the same six pairs and 973 days.
The typical backtest shows twenty-five point seven five lakh rupees of profit. Mark P&amp;L on the real contracts with rolls and carry and it falls to two and a half lakh. Add brokerage, exchange fees, CTT, stamp duty, GST and slippage, and it becomes a loss of three thousand four hundred rupees over 181 trades.
The naive version was also secretly a 186-gram bet on gold; the honest version carries 13 grams. And the honest test still finds where a real edge exists: GOLDTEN against GOLDGUINEA made 1.39 lakh with a 74 percent win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working today, end to end, on real MCX data.
The Tip Checker turns any tip, even in Hinglish, into a precise rule and replays it through the same honest test. This real tip promised forty percent a year, guaranteed; tested honestly it lost 1.7 percent a year, and GoldLens flags the guaranteed-returns and paid-group patterns SEBI warns about.
Every morning, one Telegram message brings the gold price, carry, signals, premiums and expiries, in English or Hindi.
Eight of nine pieces are shipped: the data pipeline, normalisation, scanner, honest backtest, Tip Checker, AI analyst, Telegram brief and the website. Live Upstox quotes are coded and ready for the grand finale.
GoldLens: honest intelligence for gold traders.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L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40280"/>
            <a:ext cx="5852160" cy="1143000"/>
          </a:xfrm>
          <a:prstGeom prst="rect">
            <a:avLst/>
          </a:prstGeom>
          <a:noFill/>
          <a:ln/>
        </p:spPr>
        <p:txBody>
          <a:bodyPr wrap="square" rtlCol="0"/>
          <a:lstStyle>
            <a:lvl1pPr algn="l" indent="0" marL="0">
              <a:buNone/>
              <a:defRPr lang="en-US" sz="7200" b="1" dirty="0">
                <a:solidFill>
                  <a:schemeClr val="accent1"/>
                </a:solidFill>
              </a:defRPr>
            </a:lvl1pPr>
          </a:lstStyle>
          <a:p>
            <a:pPr algn="l" indent="0" marL="0">
              <a:buNone/>
            </a:pPr>
            <a:endParaRPr lang="en-US" sz="7200" dirty="0"/>
          </a:p>
        </p:txBody>
      </p:sp>
      <p:sp>
        <p:nvSpPr>
          <p:cNvPr id="3" name="Text 0"/>
          <p:cNvSpPr/>
          <p:nvPr>
            <p:ph idx="101" type="body" hasCustomPrompt="1"/>
          </p:nvPr>
        </p:nvSpPr>
        <p:spPr>
          <a:xfrm>
            <a:off x="640080" y="3383280"/>
            <a:ext cx="5852160" cy="548640"/>
          </a:xfrm>
          <a:prstGeom prst="rect">
            <a:avLst/>
          </a:prstGeom>
          <a:noFill/>
          <a:ln/>
        </p:spPr>
        <p:txBody>
          <a:bodyPr wrap="square" rtlCol="0"/>
          <a:lstStyle>
            <a:lvl1pPr algn="l" indent="0" marL="0">
              <a:buNone/>
              <a:defRPr lang="en-US" sz="2600" dirty="0">
                <a:solidFill>
                  <a:schemeClr val="bg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L_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rtlCol="0"/>
          <a:lstStyle>
            <a:lvl1pPr indent="0" marL="0">
              <a:buNone/>
              <a:defRPr lang="en-US" sz="1300" b="1" spc="3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GoldLens  ·  Hack in Hills '26, powered by TinyFish  ·  PS 03</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slideLayout" Target="../slideLayouts/slideLayout3.xml"/><Relationship Id="rId1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3.xml"/><Relationship Id="rId1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oldLens logo" descr="preencoded.png">    </p:cNvPr>
          <p:cNvPicPr>
            <a:picLocks noChangeAspect="1"/>
          </p:cNvPicPr>
          <p:nvPr/>
        </p:nvPicPr>
        <p:blipFill>
          <a:blip r:embed="rId1"/>
          <a:stretch>
            <a:fillRect/>
          </a:stretch>
        </p:blipFill>
        <p:spPr>
          <a:xfrm>
            <a:off x="640080" y="777240"/>
            <a:ext cx="868680" cy="868680"/>
          </a:xfrm>
          <a:prstGeom prst="rect">
            <a:avLst/>
          </a:prstGeom>
        </p:spPr>
      </p:pic>
      <p:sp>
        <p:nvSpPr>
          <p:cNvPr id="3" name="Text 0"/>
          <p:cNvSpPr txBox="1"/>
          <p:nvPr/>
        </p:nvSpPr>
        <p:spPr>
          <a:xfrm>
            <a:off x="640080" y="1874520"/>
            <a:ext cx="5852160" cy="365760"/>
          </a:xfrm>
          <a:prstGeom prst="rect">
            <a:avLst/>
          </a:prstGeom>
          <a:noFill/>
          <a:ln/>
        </p:spPr>
        <p:txBody>
          <a:bodyPr wrap="square" lIns="0" tIns="0" rIns="0" bIns="0" rtlCol="0" anchor="t"/>
          <a:lstStyle/>
          <a:p>
            <a:pPr indent="0" marL="0">
              <a:buNone/>
            </a:pPr>
            <a:r>
              <a:rPr lang="en-US" sz="1400" b="1" spc="200" kern="0" dirty="0">
                <a:solidFill>
                  <a:schemeClr val="accent1"/>
                </a:solidFill>
              </a:rPr>
              <a:t>HACK IN HILLS, POWERED BY TINYFISH  ·  PS 03</a:t>
            </a:r>
            <a:endParaRPr lang="en-US" sz="1400" dirty="0"/>
          </a:p>
        </p:txBody>
      </p:sp>
      <p:sp>
        <p:nvSpPr>
          <p:cNvPr id="4" name="Text 0"/>
          <p:cNvSpPr/>
          <p:nvPr>
            <p:ph idx="100" type="title" hasCustomPrompt="1"/>
          </p:nvPr>
        </p:nvSpPr>
        <p:spPr>
          <a:xfrm>
            <a:off x="640080" y="2240280"/>
            <a:ext cx="5852160" cy="1143000"/>
          </a:xfrm>
          <a:prstGeom prst="rect">
            <a:avLst/>
          </a:prstGeom>
          <a:noFill/>
          <a:ln/>
        </p:spPr>
        <p:txBody>
          <a:bodyPr wrap="square" lIns="0" tIns="0" rIns="0" bIns="0" rtlCol="0" anchor="ctr"/>
          <a:lstStyle/>
          <a:p>
            <a:pPr algn="l" indent="0" marL="0">
              <a:buNone/>
            </a:pPr>
            <a:r>
              <a:rPr lang="en-US" sz="7200" b="1" dirty="0">
                <a:solidFill>
                  <a:schemeClr val="accent1"/>
                </a:solidFill>
              </a:rPr>
              <a:t>GoldLens</a:t>
            </a:r>
            <a:endParaRPr lang="en-US" sz="7200" dirty="0"/>
          </a:p>
        </p:txBody>
      </p:sp>
      <p:sp>
        <p:nvSpPr>
          <p:cNvPr id="5" name="Text 0"/>
          <p:cNvSpPr/>
          <p:nvPr>
            <p:ph idx="101" type="body" hasCustomPrompt="1"/>
          </p:nvPr>
        </p:nvSpPr>
        <p:spPr>
          <a:xfrm>
            <a:off x="640080" y="3383280"/>
            <a:ext cx="5852160" cy="548640"/>
          </a:xfrm>
          <a:prstGeom prst="rect">
            <a:avLst/>
          </a:prstGeom>
          <a:noFill/>
          <a:ln/>
        </p:spPr>
        <p:txBody>
          <a:bodyPr wrap="square" lIns="0" tIns="0" rIns="0" bIns="0" rtlCol="0" anchor="t"/>
          <a:lstStyle/>
          <a:p>
            <a:pPr algn="l" indent="0" marL="0">
              <a:buNone/>
            </a:pPr>
            <a:r>
              <a:rPr lang="en-US" sz="2600" dirty="0">
                <a:solidFill>
                  <a:schemeClr val="bg1"/>
                </a:solidFill>
              </a:rPr>
              <a:t>Honest intelligence for MCX gold futures</a:t>
            </a:r>
            <a:endParaRPr lang="en-US" sz="2600" dirty="0"/>
          </a:p>
        </p:txBody>
      </p:sp>
      <p:sp>
        <p:nvSpPr>
          <p:cNvPr id="6" name="Text 3"/>
          <p:cNvSpPr txBox="1"/>
          <p:nvPr/>
        </p:nvSpPr>
        <p:spPr>
          <a:xfrm>
            <a:off x="640080" y="4023360"/>
            <a:ext cx="5669280" cy="822960"/>
          </a:xfrm>
          <a:prstGeom prst="rect">
            <a:avLst/>
          </a:prstGeom>
          <a:noFill/>
          <a:ln/>
        </p:spPr>
        <p:txBody>
          <a:bodyPr wrap="square" lIns="0" tIns="0" rIns="0" bIns="0" rtlCol="0" anchor="t"/>
          <a:lstStyle/>
          <a:p>
            <a:pPr indent="0" marL="0">
              <a:buNone/>
            </a:pPr>
            <a:r>
              <a:rPr lang="en-US" sz="1600" dirty="0">
                <a:solidFill>
                  <a:schemeClr val="bg2"/>
                </a:solidFill>
              </a:rPr>
              <a:t>Four gold contracts on one scale, alerts only when a trade pays after real costs, and a lie detector for trading tips.</a:t>
            </a:r>
            <a:endParaRPr lang="en-US" sz="1600" dirty="0"/>
          </a:p>
        </p:txBody>
      </p:sp>
      <p:sp>
        <p:nvSpPr>
          <p:cNvPr id="7" name="Stat 1"/>
          <p:cNvSpPr/>
          <p:nvPr/>
        </p:nvSpPr>
        <p:spPr>
          <a:xfrm>
            <a:off x="640080" y="4983480"/>
            <a:ext cx="1783080" cy="868680"/>
          </a:xfrm>
          <a:prstGeom prst="roundRect">
            <a:avLst>
              <a:gd name="adj" fmla="val 12632"/>
            </a:avLst>
          </a:prstGeom>
          <a:solidFill>
            <a:schemeClr val="tx2"/>
          </a:solidFill>
          <a:ln w="12700">
            <a:solidFill>
              <a:srgbClr val="222B3A"/>
            </a:solidFill>
            <a:prstDash val="solid"/>
          </a:ln>
        </p:spPr>
      </p:sp>
      <p:sp>
        <p:nvSpPr>
          <p:cNvPr id="8" name="Text 5"/>
          <p:cNvSpPr txBox="1"/>
          <p:nvPr/>
        </p:nvSpPr>
        <p:spPr>
          <a:xfrm>
            <a:off x="804672" y="5047488"/>
            <a:ext cx="1463040" cy="4114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973</a:t>
            </a:r>
            <a:endParaRPr lang="en-US" sz="2400" dirty="0"/>
          </a:p>
        </p:txBody>
      </p:sp>
      <p:sp>
        <p:nvSpPr>
          <p:cNvPr id="9" name="Text 6"/>
          <p:cNvSpPr txBox="1"/>
          <p:nvPr/>
        </p:nvSpPr>
        <p:spPr>
          <a:xfrm>
            <a:off x="804672" y="5440680"/>
            <a:ext cx="1508760" cy="365760"/>
          </a:xfrm>
          <a:prstGeom prst="rect">
            <a:avLst/>
          </a:prstGeom>
          <a:noFill/>
          <a:ln/>
        </p:spPr>
        <p:txBody>
          <a:bodyPr wrap="square" lIns="0" tIns="0" rIns="0" bIns="0" rtlCol="0" anchor="t"/>
          <a:lstStyle/>
          <a:p>
            <a:pPr indent="0" marL="0">
              <a:buNone/>
            </a:pPr>
            <a:r>
              <a:rPr lang="en-US" sz="1100" dirty="0">
                <a:solidFill>
                  <a:schemeClr val="bg2"/>
                </a:solidFill>
              </a:rPr>
              <a:t>trading days of real MCX data</a:t>
            </a:r>
            <a:endParaRPr lang="en-US" sz="1100" dirty="0"/>
          </a:p>
        </p:txBody>
      </p:sp>
      <p:sp>
        <p:nvSpPr>
          <p:cNvPr id="10" name="Stat 2"/>
          <p:cNvSpPr/>
          <p:nvPr/>
        </p:nvSpPr>
        <p:spPr>
          <a:xfrm>
            <a:off x="2651760" y="4983480"/>
            <a:ext cx="1783080" cy="868680"/>
          </a:xfrm>
          <a:prstGeom prst="roundRect">
            <a:avLst>
              <a:gd name="adj" fmla="val 12632"/>
            </a:avLst>
          </a:prstGeom>
          <a:solidFill>
            <a:schemeClr val="tx2"/>
          </a:solidFill>
          <a:ln w="12700">
            <a:solidFill>
              <a:srgbClr val="222B3A"/>
            </a:solidFill>
            <a:prstDash val="solid"/>
          </a:ln>
        </p:spPr>
      </p:sp>
      <p:sp>
        <p:nvSpPr>
          <p:cNvPr id="11" name="Text 8"/>
          <p:cNvSpPr txBox="1"/>
          <p:nvPr/>
        </p:nvSpPr>
        <p:spPr>
          <a:xfrm>
            <a:off x="2816352" y="5047488"/>
            <a:ext cx="1463040" cy="4114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178</a:t>
            </a:r>
            <a:endParaRPr lang="en-US" sz="2400" dirty="0"/>
          </a:p>
        </p:txBody>
      </p:sp>
      <p:sp>
        <p:nvSpPr>
          <p:cNvPr id="12" name="Text 9"/>
          <p:cNvSpPr txBox="1"/>
          <p:nvPr/>
        </p:nvSpPr>
        <p:spPr>
          <a:xfrm>
            <a:off x="2816352" y="5440680"/>
            <a:ext cx="1508760" cy="365760"/>
          </a:xfrm>
          <a:prstGeom prst="rect">
            <a:avLst/>
          </a:prstGeom>
          <a:noFill/>
          <a:ln/>
        </p:spPr>
        <p:txBody>
          <a:bodyPr wrap="square" lIns="0" tIns="0" rIns="0" bIns="0" rtlCol="0" anchor="t"/>
          <a:lstStyle/>
          <a:p>
            <a:pPr indent="0" marL="0">
              <a:buNone/>
            </a:pPr>
            <a:r>
              <a:rPr lang="en-US" sz="1100" dirty="0">
                <a:solidFill>
                  <a:schemeClr val="bg2"/>
                </a:solidFill>
              </a:rPr>
              <a:t>contracts tracked and rolled</a:t>
            </a:r>
            <a:endParaRPr lang="en-US" sz="1100" dirty="0"/>
          </a:p>
        </p:txBody>
      </p:sp>
      <p:sp>
        <p:nvSpPr>
          <p:cNvPr id="13" name="Stat 3"/>
          <p:cNvSpPr/>
          <p:nvPr/>
        </p:nvSpPr>
        <p:spPr>
          <a:xfrm>
            <a:off x="4663440" y="4983480"/>
            <a:ext cx="1783080" cy="868680"/>
          </a:xfrm>
          <a:prstGeom prst="roundRect">
            <a:avLst>
              <a:gd name="adj" fmla="val 12632"/>
            </a:avLst>
          </a:prstGeom>
          <a:solidFill>
            <a:schemeClr val="tx2"/>
          </a:solidFill>
          <a:ln w="12700">
            <a:solidFill>
              <a:srgbClr val="222B3A"/>
            </a:solidFill>
            <a:prstDash val="solid"/>
          </a:ln>
        </p:spPr>
      </p:sp>
      <p:sp>
        <p:nvSpPr>
          <p:cNvPr id="14" name="Text 11"/>
          <p:cNvSpPr txBox="1"/>
          <p:nvPr/>
        </p:nvSpPr>
        <p:spPr>
          <a:xfrm>
            <a:off x="4828032" y="5047488"/>
            <a:ext cx="1463040" cy="411480"/>
          </a:xfrm>
          <a:prstGeom prst="rect">
            <a:avLst/>
          </a:prstGeom>
          <a:noFill/>
          <a:ln/>
        </p:spPr>
        <p:txBody>
          <a:bodyPr wrap="square" lIns="0" tIns="0" rIns="0" bIns="0" rtlCol="0" anchor="t"/>
          <a:lstStyle/>
          <a:p>
            <a:pPr indent="0" marL="0">
              <a:buNone/>
            </a:pPr>
            <a:r>
              <a:rPr lang="en-US" sz="2400" b="1" dirty="0">
                <a:solidFill>
                  <a:schemeClr val="accent1"/>
                </a:solidFill>
                <a:latin typeface="Arial" pitchFamily="34" charset="0"/>
                <a:ea typeface="Arial" pitchFamily="34" charset="-122"/>
                <a:cs typeface="Arial" pitchFamily="34" charset="-120"/>
              </a:rPr>
              <a:t>61</a:t>
            </a:r>
            <a:endParaRPr lang="en-US" sz="2400" dirty="0"/>
          </a:p>
        </p:txBody>
      </p:sp>
      <p:sp>
        <p:nvSpPr>
          <p:cNvPr id="15" name="Text 12"/>
          <p:cNvSpPr txBox="1"/>
          <p:nvPr/>
        </p:nvSpPr>
        <p:spPr>
          <a:xfrm>
            <a:off x="4828032" y="5440680"/>
            <a:ext cx="1508760" cy="365760"/>
          </a:xfrm>
          <a:prstGeom prst="rect">
            <a:avLst/>
          </a:prstGeom>
          <a:noFill/>
          <a:ln/>
        </p:spPr>
        <p:txBody>
          <a:bodyPr wrap="square" lIns="0" tIns="0" rIns="0" bIns="0" rtlCol="0" anchor="t"/>
          <a:lstStyle/>
          <a:p>
            <a:pPr indent="0" marL="0">
              <a:buNone/>
            </a:pPr>
            <a:r>
              <a:rPr lang="en-US" sz="1100" dirty="0">
                <a:solidFill>
                  <a:schemeClr val="bg2"/>
                </a:solidFill>
              </a:rPr>
              <a:t>automated tests passing</a:t>
            </a:r>
            <a:endParaRPr lang="en-US" sz="1100" dirty="0"/>
          </a:p>
        </p:txBody>
      </p:sp>
      <p:sp>
        <p:nvSpPr>
          <p:cNvPr id="16" name="Text 13"/>
          <p:cNvSpPr txBox="1"/>
          <p:nvPr/>
        </p:nvSpPr>
        <p:spPr>
          <a:xfrm>
            <a:off x="640080" y="6172200"/>
            <a:ext cx="5852160" cy="320040"/>
          </a:xfrm>
          <a:prstGeom prst="rect">
            <a:avLst/>
          </a:prstGeom>
          <a:noFill/>
          <a:ln/>
        </p:spPr>
        <p:txBody>
          <a:bodyPr wrap="square" lIns="0" tIns="0" rIns="0" bIns="0" rtlCol="0" anchor="t"/>
          <a:lstStyle/>
          <a:p>
            <a:pPr indent="0" marL="0">
              <a:buNone/>
            </a:pPr>
            <a:r>
              <a:rPr lang="en-US" sz="1400" dirty="0">
                <a:solidFill>
                  <a:schemeClr val="bg1"/>
                </a:solidFill>
              </a:rPr>
              <a:t>Team TechFast  ·  Revant Raj</a:t>
            </a:r>
            <a:endParaRPr lang="en-US" sz="1400" dirty="0"/>
          </a:p>
        </p:txBody>
      </p:sp>
      <p:sp>
        <p:nvSpPr>
          <p:cNvPr id="17" name="Chart panel"/>
          <p:cNvSpPr/>
          <p:nvPr/>
        </p:nvSpPr>
        <p:spPr>
          <a:xfrm>
            <a:off x="6812280" y="777240"/>
            <a:ext cx="4846320" cy="5349240"/>
          </a:xfrm>
          <a:prstGeom prst="roundRect">
            <a:avLst>
              <a:gd name="adj" fmla="val 2264"/>
            </a:avLst>
          </a:prstGeom>
          <a:solidFill>
            <a:schemeClr val="tx2"/>
          </a:solidFill>
          <a:ln w="12700">
            <a:solidFill>
              <a:srgbClr val="222B3A"/>
            </a:solidFill>
            <a:prstDash val="solid"/>
          </a:ln>
        </p:spPr>
      </p:sp>
      <p:sp>
        <p:nvSpPr>
          <p:cNvPr id="18" name="Text 15"/>
          <p:cNvSpPr txBox="1"/>
          <p:nvPr/>
        </p:nvSpPr>
        <p:spPr>
          <a:xfrm>
            <a:off x="7040880" y="960120"/>
            <a:ext cx="4389120" cy="320040"/>
          </a:xfrm>
          <a:prstGeom prst="rect">
            <a:avLst/>
          </a:prstGeom>
          <a:noFill/>
          <a:ln/>
        </p:spPr>
        <p:txBody>
          <a:bodyPr wrap="square" lIns="0" tIns="0" rIns="0" bIns="0" rtlCol="0" anchor="t"/>
          <a:lstStyle/>
          <a:p>
            <a:pPr indent="0" marL="0">
              <a:buNone/>
            </a:pPr>
            <a:r>
              <a:rPr lang="en-US" sz="1400" b="1" dirty="0">
                <a:solidFill>
                  <a:schemeClr val="bg1"/>
                </a:solidFill>
              </a:rPr>
              <a:t>Four contracts, one honest line</a:t>
            </a:r>
            <a:endParaRPr lang="en-US" sz="1400" dirty="0"/>
          </a:p>
        </p:txBody>
      </p:sp>
      <p:graphicFrame>
        <p:nvGraphicFramePr>
          <p:cNvPr id="19" name="Normalised price lines" descr=""/>
          <p:cNvGraphicFramePr/>
          <p:nvPr/>
        </p:nvGraphicFramePr>
        <p:xfrm>
          <a:off x="6949440" y="1325880"/>
          <a:ext cx="4572000" cy="4206240"/>
        </p:xfrm>
        <a:graphic xmlns:a="http://schemas.openxmlformats.org/drawingml/2006/main">
          <a:graphicData uri="http://schemas.openxmlformats.org/drawingml/2006/chart">
            <c:chart xmlns:c="http://schemas.openxmlformats.org/drawingml/2006/chart" r:id="rId2"/>
          </a:graphicData>
        </a:graphic>
      </p:graphicFrame>
      <p:sp>
        <p:nvSpPr>
          <p:cNvPr id="20" name="Text 16"/>
          <p:cNvSpPr txBox="1"/>
          <p:nvPr/>
        </p:nvSpPr>
        <p:spPr>
          <a:xfrm>
            <a:off x="7040880" y="5623560"/>
            <a:ext cx="4389120" cy="320040"/>
          </a:xfrm>
          <a:prstGeom prst="rect">
            <a:avLst/>
          </a:prstGeom>
          <a:noFill/>
          <a:ln/>
        </p:spPr>
        <p:txBody>
          <a:bodyPr wrap="square" lIns="0" tIns="0" rIns="0" bIns="0" rtlCol="0" anchor="t"/>
          <a:lstStyle/>
          <a:p>
            <a:pPr indent="0" marL="0">
              <a:buNone/>
            </a:pPr>
            <a:r>
              <a:rPr lang="en-US" sz="1200" dirty="0">
                <a:solidFill>
                  <a:schemeClr val="bg2"/>
                </a:solidFill>
              </a:rPr>
              <a:t>₹ per 10 g of 999 gold  ·  Oct 2025 to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THE PROBLEM</a:t>
            </a: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Same gold, four prices, and false confidence</a:t>
            </a:r>
            <a:endParaRPr lang="en-US" sz="3200" dirty="0"/>
          </a:p>
        </p:txBody>
      </p:sp>
      <p:sp>
        <p:nvSpPr>
          <p:cNvPr id="4" name="GOLDM card"/>
          <p:cNvSpPr/>
          <p:nvPr/>
        </p:nvSpPr>
        <p:spPr>
          <a:xfrm>
            <a:off x="548640" y="1691640"/>
            <a:ext cx="2697480" cy="1417320"/>
          </a:xfrm>
          <a:prstGeom prst="roundRect">
            <a:avLst>
              <a:gd name="adj" fmla="val 7742"/>
            </a:avLst>
          </a:prstGeom>
          <a:solidFill>
            <a:schemeClr val="tx2"/>
          </a:solidFill>
          <a:ln w="12700">
            <a:solidFill>
              <a:srgbClr val="222B3A"/>
            </a:solidFill>
            <a:prstDash val="solid"/>
          </a:ln>
        </p:spPr>
      </p:sp>
      <p:sp>
        <p:nvSpPr>
          <p:cNvPr id="5" name="GOLDM colour"/>
          <p:cNvSpPr/>
          <p:nvPr/>
        </p:nvSpPr>
        <p:spPr>
          <a:xfrm>
            <a:off x="749808" y="1938528"/>
            <a:ext cx="146304" cy="146304"/>
          </a:xfrm>
          <a:prstGeom prst="ellipse">
            <a:avLst/>
          </a:prstGeom>
          <a:solidFill>
            <a:srgbClr val="E0B04A"/>
          </a:solidFill>
          <a:ln/>
        </p:spPr>
      </p:sp>
      <p:sp>
        <p:nvSpPr>
          <p:cNvPr id="6" name="Text 4"/>
          <p:cNvSpPr txBox="1"/>
          <p:nvPr/>
        </p:nvSpPr>
        <p:spPr>
          <a:xfrm>
            <a:off x="987552" y="1847088"/>
            <a:ext cx="2103120" cy="320040"/>
          </a:xfrm>
          <a:prstGeom prst="rect">
            <a:avLst/>
          </a:prstGeom>
          <a:noFill/>
          <a:ln/>
        </p:spPr>
        <p:txBody>
          <a:bodyPr wrap="square" lIns="0" tIns="0" rIns="0" bIns="0" rtlCol="0" anchor="t"/>
          <a:lstStyle/>
          <a:p>
            <a:pPr indent="0" marL="0">
              <a:buNone/>
            </a:pPr>
            <a:r>
              <a:rPr lang="en-US" sz="1700" b="1" dirty="0">
                <a:solidFill>
                  <a:schemeClr val="bg1"/>
                </a:solidFill>
              </a:rPr>
              <a:t>GOLDM</a:t>
            </a:r>
            <a:endParaRPr lang="en-US" sz="1700" dirty="0"/>
          </a:p>
        </p:txBody>
      </p:sp>
      <p:sp>
        <p:nvSpPr>
          <p:cNvPr id="7" name="Text 5"/>
          <p:cNvSpPr txBox="1"/>
          <p:nvPr/>
        </p:nvSpPr>
        <p:spPr>
          <a:xfrm>
            <a:off x="749808" y="2194560"/>
            <a:ext cx="2377440" cy="274320"/>
          </a:xfrm>
          <a:prstGeom prst="rect">
            <a:avLst/>
          </a:prstGeom>
          <a:noFill/>
          <a:ln/>
        </p:spPr>
        <p:txBody>
          <a:bodyPr wrap="square" lIns="0" tIns="0" rIns="0" bIns="0" rtlCol="0" anchor="t"/>
          <a:lstStyle/>
          <a:p>
            <a:pPr indent="0" marL="0">
              <a:buNone/>
            </a:pPr>
            <a:r>
              <a:rPr lang="en-US" sz="1200" dirty="0">
                <a:solidFill>
                  <a:schemeClr val="bg2"/>
                </a:solidFill>
              </a:rPr>
              <a:t>100 g lot · per 10 g · 995</a:t>
            </a:r>
            <a:endParaRPr lang="en-US" sz="1200" dirty="0"/>
          </a:p>
        </p:txBody>
      </p:sp>
      <p:sp>
        <p:nvSpPr>
          <p:cNvPr id="8" name="Text 6"/>
          <p:cNvSpPr txBox="1"/>
          <p:nvPr/>
        </p:nvSpPr>
        <p:spPr>
          <a:xfrm>
            <a:off x="749808" y="2532888"/>
            <a:ext cx="2423160" cy="45720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₹146,425</a:t>
            </a:r>
            <a:pPr indent="0" marL="0">
              <a:buNone/>
            </a:pPr>
            <a:r>
              <a:rPr lang="en-US" sz="1000" dirty="0">
                <a:solidFill>
                  <a:schemeClr val="bg2"/>
                </a:solidFill>
              </a:rPr>
              <a:t>  05 NOV 26</a:t>
            </a:r>
            <a:endParaRPr lang="en-US" sz="2400" dirty="0"/>
          </a:p>
        </p:txBody>
      </p:sp>
      <p:sp>
        <p:nvSpPr>
          <p:cNvPr id="9" name="GOLDTEN card"/>
          <p:cNvSpPr/>
          <p:nvPr/>
        </p:nvSpPr>
        <p:spPr>
          <a:xfrm>
            <a:off x="3474720" y="1691640"/>
            <a:ext cx="2697480" cy="1417320"/>
          </a:xfrm>
          <a:prstGeom prst="roundRect">
            <a:avLst>
              <a:gd name="adj" fmla="val 7742"/>
            </a:avLst>
          </a:prstGeom>
          <a:solidFill>
            <a:schemeClr val="tx2"/>
          </a:solidFill>
          <a:ln w="12700">
            <a:solidFill>
              <a:srgbClr val="222B3A"/>
            </a:solidFill>
            <a:prstDash val="solid"/>
          </a:ln>
        </p:spPr>
      </p:sp>
      <p:sp>
        <p:nvSpPr>
          <p:cNvPr id="10" name="GOLDTEN colour"/>
          <p:cNvSpPr/>
          <p:nvPr/>
        </p:nvSpPr>
        <p:spPr>
          <a:xfrm>
            <a:off x="3675888" y="1938528"/>
            <a:ext cx="146304" cy="146304"/>
          </a:xfrm>
          <a:prstGeom prst="ellipse">
            <a:avLst/>
          </a:prstGeom>
          <a:solidFill>
            <a:srgbClr val="5B8DEF"/>
          </a:solidFill>
          <a:ln/>
        </p:spPr>
      </p:sp>
      <p:sp>
        <p:nvSpPr>
          <p:cNvPr id="11" name="Text 9"/>
          <p:cNvSpPr txBox="1"/>
          <p:nvPr/>
        </p:nvSpPr>
        <p:spPr>
          <a:xfrm>
            <a:off x="3913632" y="1847088"/>
            <a:ext cx="2103120" cy="320040"/>
          </a:xfrm>
          <a:prstGeom prst="rect">
            <a:avLst/>
          </a:prstGeom>
          <a:noFill/>
          <a:ln/>
        </p:spPr>
        <p:txBody>
          <a:bodyPr wrap="square" lIns="0" tIns="0" rIns="0" bIns="0" rtlCol="0" anchor="t"/>
          <a:lstStyle/>
          <a:p>
            <a:pPr indent="0" marL="0">
              <a:buNone/>
            </a:pPr>
            <a:r>
              <a:rPr lang="en-US" sz="1700" b="1" dirty="0">
                <a:solidFill>
                  <a:schemeClr val="bg1"/>
                </a:solidFill>
              </a:rPr>
              <a:t>GOLDTEN</a:t>
            </a:r>
            <a:endParaRPr lang="en-US" sz="1700" dirty="0"/>
          </a:p>
        </p:txBody>
      </p:sp>
      <p:sp>
        <p:nvSpPr>
          <p:cNvPr id="12" name="Text 10"/>
          <p:cNvSpPr txBox="1"/>
          <p:nvPr/>
        </p:nvSpPr>
        <p:spPr>
          <a:xfrm>
            <a:off x="3675888" y="2194560"/>
            <a:ext cx="2377440" cy="274320"/>
          </a:xfrm>
          <a:prstGeom prst="rect">
            <a:avLst/>
          </a:prstGeom>
          <a:noFill/>
          <a:ln/>
        </p:spPr>
        <p:txBody>
          <a:bodyPr wrap="square" lIns="0" tIns="0" rIns="0" bIns="0" rtlCol="0" anchor="t"/>
          <a:lstStyle/>
          <a:p>
            <a:pPr indent="0" marL="0">
              <a:buNone/>
            </a:pPr>
            <a:r>
              <a:rPr lang="en-US" sz="1200" dirty="0">
                <a:solidFill>
                  <a:schemeClr val="bg2"/>
                </a:solidFill>
              </a:rPr>
              <a:t>10 g lot · per 10 g · 999</a:t>
            </a:r>
            <a:endParaRPr lang="en-US" sz="1200" dirty="0"/>
          </a:p>
        </p:txBody>
      </p:sp>
      <p:sp>
        <p:nvSpPr>
          <p:cNvPr id="13" name="Text 11"/>
          <p:cNvSpPr txBox="1"/>
          <p:nvPr/>
        </p:nvSpPr>
        <p:spPr>
          <a:xfrm>
            <a:off x="3675888" y="2532888"/>
            <a:ext cx="2423160" cy="45720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₹146,819</a:t>
            </a:r>
            <a:pPr indent="0" marL="0">
              <a:buNone/>
            </a:pPr>
            <a:r>
              <a:rPr lang="en-US" sz="1000" dirty="0">
                <a:solidFill>
                  <a:schemeClr val="bg2"/>
                </a:solidFill>
              </a:rPr>
              <a:t>  30 OCT 26</a:t>
            </a:r>
            <a:endParaRPr lang="en-US" sz="2400" dirty="0"/>
          </a:p>
        </p:txBody>
      </p:sp>
      <p:sp>
        <p:nvSpPr>
          <p:cNvPr id="14" name="GOLDGUINEA card"/>
          <p:cNvSpPr/>
          <p:nvPr/>
        </p:nvSpPr>
        <p:spPr>
          <a:xfrm>
            <a:off x="548640" y="3337560"/>
            <a:ext cx="2697480" cy="1417320"/>
          </a:xfrm>
          <a:prstGeom prst="roundRect">
            <a:avLst>
              <a:gd name="adj" fmla="val 7742"/>
            </a:avLst>
          </a:prstGeom>
          <a:solidFill>
            <a:schemeClr val="tx2"/>
          </a:solidFill>
          <a:ln w="12700">
            <a:solidFill>
              <a:srgbClr val="222B3A"/>
            </a:solidFill>
            <a:prstDash val="solid"/>
          </a:ln>
        </p:spPr>
      </p:sp>
      <p:sp>
        <p:nvSpPr>
          <p:cNvPr id="15" name="GOLDGUINEA colour"/>
          <p:cNvSpPr/>
          <p:nvPr/>
        </p:nvSpPr>
        <p:spPr>
          <a:xfrm>
            <a:off x="749808" y="3584448"/>
            <a:ext cx="146304" cy="146304"/>
          </a:xfrm>
          <a:prstGeom prst="ellipse">
            <a:avLst/>
          </a:prstGeom>
          <a:solidFill>
            <a:srgbClr val="F07A8C"/>
          </a:solidFill>
          <a:ln/>
        </p:spPr>
      </p:sp>
      <p:sp>
        <p:nvSpPr>
          <p:cNvPr id="16" name="Text 14"/>
          <p:cNvSpPr txBox="1"/>
          <p:nvPr/>
        </p:nvSpPr>
        <p:spPr>
          <a:xfrm>
            <a:off x="987552" y="3493008"/>
            <a:ext cx="2103120" cy="320040"/>
          </a:xfrm>
          <a:prstGeom prst="rect">
            <a:avLst/>
          </a:prstGeom>
          <a:noFill/>
          <a:ln/>
        </p:spPr>
        <p:txBody>
          <a:bodyPr wrap="square" lIns="0" tIns="0" rIns="0" bIns="0" rtlCol="0" anchor="t"/>
          <a:lstStyle/>
          <a:p>
            <a:pPr indent="0" marL="0">
              <a:buNone/>
            </a:pPr>
            <a:r>
              <a:rPr lang="en-US" sz="1700" b="1" dirty="0">
                <a:solidFill>
                  <a:schemeClr val="bg1"/>
                </a:solidFill>
              </a:rPr>
              <a:t>GOLDGUINEA</a:t>
            </a:r>
            <a:endParaRPr lang="en-US" sz="1700" dirty="0"/>
          </a:p>
        </p:txBody>
      </p:sp>
      <p:sp>
        <p:nvSpPr>
          <p:cNvPr id="17" name="Text 15"/>
          <p:cNvSpPr txBox="1"/>
          <p:nvPr/>
        </p:nvSpPr>
        <p:spPr>
          <a:xfrm>
            <a:off x="749808" y="3840480"/>
            <a:ext cx="2377440" cy="274320"/>
          </a:xfrm>
          <a:prstGeom prst="rect">
            <a:avLst/>
          </a:prstGeom>
          <a:noFill/>
          <a:ln/>
        </p:spPr>
        <p:txBody>
          <a:bodyPr wrap="square" lIns="0" tIns="0" rIns="0" bIns="0" rtlCol="0" anchor="t"/>
          <a:lstStyle/>
          <a:p>
            <a:pPr indent="0" marL="0">
              <a:buNone/>
            </a:pPr>
            <a:r>
              <a:rPr lang="en-US" sz="1200" dirty="0">
                <a:solidFill>
                  <a:schemeClr val="bg2"/>
                </a:solidFill>
              </a:rPr>
              <a:t>8 g lot · per 8 g · 916</a:t>
            </a:r>
            <a:endParaRPr lang="en-US" sz="1200" dirty="0"/>
          </a:p>
        </p:txBody>
      </p:sp>
      <p:sp>
        <p:nvSpPr>
          <p:cNvPr id="18" name="Text 16"/>
          <p:cNvSpPr txBox="1"/>
          <p:nvPr/>
        </p:nvSpPr>
        <p:spPr>
          <a:xfrm>
            <a:off x="749808" y="4178808"/>
            <a:ext cx="2423160" cy="45720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₹118,009</a:t>
            </a:r>
            <a:pPr indent="0" marL="0">
              <a:buNone/>
            </a:pPr>
            <a:r>
              <a:rPr lang="en-US" sz="1000" dirty="0">
                <a:solidFill>
                  <a:schemeClr val="bg2"/>
                </a:solidFill>
              </a:rPr>
              <a:t>  30 OCT 26</a:t>
            </a:r>
            <a:endParaRPr lang="en-US" sz="2400" dirty="0"/>
          </a:p>
        </p:txBody>
      </p:sp>
      <p:sp>
        <p:nvSpPr>
          <p:cNvPr id="19" name="GOLDPETAL card"/>
          <p:cNvSpPr/>
          <p:nvPr/>
        </p:nvSpPr>
        <p:spPr>
          <a:xfrm>
            <a:off x="3474720" y="3337560"/>
            <a:ext cx="2697480" cy="1417320"/>
          </a:xfrm>
          <a:prstGeom prst="roundRect">
            <a:avLst>
              <a:gd name="adj" fmla="val 7742"/>
            </a:avLst>
          </a:prstGeom>
          <a:solidFill>
            <a:schemeClr val="tx2"/>
          </a:solidFill>
          <a:ln w="12700">
            <a:solidFill>
              <a:srgbClr val="222B3A"/>
            </a:solidFill>
            <a:prstDash val="solid"/>
          </a:ln>
        </p:spPr>
      </p:sp>
      <p:sp>
        <p:nvSpPr>
          <p:cNvPr id="20" name="GOLDPETAL colour"/>
          <p:cNvSpPr/>
          <p:nvPr/>
        </p:nvSpPr>
        <p:spPr>
          <a:xfrm>
            <a:off x="3675888" y="3584448"/>
            <a:ext cx="146304" cy="146304"/>
          </a:xfrm>
          <a:prstGeom prst="ellipse">
            <a:avLst/>
          </a:prstGeom>
          <a:solidFill>
            <a:srgbClr val="3CC9A7"/>
          </a:solidFill>
          <a:ln/>
        </p:spPr>
      </p:sp>
      <p:sp>
        <p:nvSpPr>
          <p:cNvPr id="21" name="Text 19"/>
          <p:cNvSpPr txBox="1"/>
          <p:nvPr/>
        </p:nvSpPr>
        <p:spPr>
          <a:xfrm>
            <a:off x="3913632" y="3493008"/>
            <a:ext cx="2103120" cy="320040"/>
          </a:xfrm>
          <a:prstGeom prst="rect">
            <a:avLst/>
          </a:prstGeom>
          <a:noFill/>
          <a:ln/>
        </p:spPr>
        <p:txBody>
          <a:bodyPr wrap="square" lIns="0" tIns="0" rIns="0" bIns="0" rtlCol="0" anchor="t"/>
          <a:lstStyle/>
          <a:p>
            <a:pPr indent="0" marL="0">
              <a:buNone/>
            </a:pPr>
            <a:r>
              <a:rPr lang="en-US" sz="1700" b="1" dirty="0">
                <a:solidFill>
                  <a:schemeClr val="bg1"/>
                </a:solidFill>
              </a:rPr>
              <a:t>GOLDPETAL</a:t>
            </a:r>
            <a:endParaRPr lang="en-US" sz="1700" dirty="0"/>
          </a:p>
        </p:txBody>
      </p:sp>
      <p:sp>
        <p:nvSpPr>
          <p:cNvPr id="22" name="Text 20"/>
          <p:cNvSpPr txBox="1"/>
          <p:nvPr/>
        </p:nvSpPr>
        <p:spPr>
          <a:xfrm>
            <a:off x="3675888" y="3840480"/>
            <a:ext cx="2377440" cy="274320"/>
          </a:xfrm>
          <a:prstGeom prst="rect">
            <a:avLst/>
          </a:prstGeom>
          <a:noFill/>
          <a:ln/>
        </p:spPr>
        <p:txBody>
          <a:bodyPr wrap="square" lIns="0" tIns="0" rIns="0" bIns="0" rtlCol="0" anchor="t"/>
          <a:lstStyle/>
          <a:p>
            <a:pPr indent="0" marL="0">
              <a:buNone/>
            </a:pPr>
            <a:r>
              <a:rPr lang="en-US" sz="1200" dirty="0">
                <a:solidFill>
                  <a:schemeClr val="bg2"/>
                </a:solidFill>
              </a:rPr>
              <a:t>1 g lot · per 1 g · 999</a:t>
            </a:r>
            <a:endParaRPr lang="en-US" sz="1200" dirty="0"/>
          </a:p>
        </p:txBody>
      </p:sp>
      <p:sp>
        <p:nvSpPr>
          <p:cNvPr id="23" name="Text 21"/>
          <p:cNvSpPr txBox="1"/>
          <p:nvPr/>
        </p:nvSpPr>
        <p:spPr>
          <a:xfrm>
            <a:off x="3675888" y="4178808"/>
            <a:ext cx="2423160" cy="457200"/>
          </a:xfrm>
          <a:prstGeom prst="rect">
            <a:avLst/>
          </a:prstGeom>
          <a:noFill/>
          <a:ln/>
        </p:spPr>
        <p:txBody>
          <a:bodyPr wrap="square" lIns="0" tIns="0" rIns="0" bIns="0" rtlCol="0" anchor="t"/>
          <a:lstStyle/>
          <a:p>
            <a:pPr indent="0" marL="0">
              <a:buNone/>
            </a:pPr>
            <a:r>
              <a:rPr lang="en-US" sz="2400" b="1" dirty="0">
                <a:solidFill>
                  <a:schemeClr val="bg1"/>
                </a:solidFill>
                <a:latin typeface="Arial" pitchFamily="34" charset="0"/>
                <a:ea typeface="Arial" pitchFamily="34" charset="-122"/>
                <a:cs typeface="Arial" pitchFamily="34" charset="-120"/>
              </a:rPr>
              <a:t>₹14,755</a:t>
            </a:r>
            <a:pPr indent="0" marL="0">
              <a:buNone/>
            </a:pPr>
            <a:r>
              <a:rPr lang="en-US" sz="1000" dirty="0">
                <a:solidFill>
                  <a:schemeClr val="bg2"/>
                </a:solidFill>
              </a:rPr>
              <a:t>  30 OCT 26</a:t>
            </a:r>
            <a:endParaRPr lang="en-US" sz="2400" dirty="0"/>
          </a:p>
        </p:txBody>
      </p:sp>
      <p:sp>
        <p:nvSpPr>
          <p:cNvPr id="24" name="Text 22"/>
          <p:cNvSpPr txBox="1"/>
          <p:nvPr/>
        </p:nvSpPr>
        <p:spPr>
          <a:xfrm>
            <a:off x="548640" y="5120640"/>
            <a:ext cx="5623560" cy="457200"/>
          </a:xfrm>
          <a:prstGeom prst="rect">
            <a:avLst/>
          </a:prstGeom>
          <a:noFill/>
          <a:ln/>
        </p:spPr>
        <p:txBody>
          <a:bodyPr wrap="square" lIns="0" tIns="0" rIns="0" bIns="0" rtlCol="0" anchor="t"/>
          <a:lstStyle/>
          <a:p>
            <a:pPr indent="0" marL="0">
              <a:buNone/>
            </a:pPr>
            <a:r>
              <a:rPr lang="en-US" sz="1800" dirty="0">
                <a:solidFill>
                  <a:schemeClr val="bg1"/>
                </a:solidFill>
              </a:rPr>
              <a:t>Same metal, prices 10× apart. </a:t>
            </a:r>
            <a:pPr indent="0" marL="0">
              <a:buNone/>
            </a:pPr>
            <a:r>
              <a:rPr lang="en-US" sz="1800" b="1" dirty="0">
                <a:solidFill>
                  <a:schemeClr val="accent1"/>
                </a:solidFill>
              </a:rPr>
              <a:t>Which one is actually cheap?</a:t>
            </a:r>
            <a:endParaRPr lang="en-US" sz="1800" dirty="0"/>
          </a:p>
        </p:txBody>
      </p:sp>
      <p:sp>
        <p:nvSpPr>
          <p:cNvPr id="25" name="Prices can't be compared circle"/>
          <p:cNvSpPr/>
          <p:nvPr/>
        </p:nvSpPr>
        <p:spPr>
          <a:xfrm>
            <a:off x="6583680" y="1737360"/>
            <a:ext cx="603504" cy="603504"/>
          </a:xfrm>
          <a:prstGeom prst="ellipse">
            <a:avLst/>
          </a:prstGeom>
          <a:solidFill>
            <a:srgbClr val="E0B04A"/>
          </a:solidFill>
          <a:ln/>
        </p:spPr>
      </p:sp>
      <p:pic>
        <p:nvPicPr>
          <p:cNvPr id="26" name="Prices can't be compared icon" descr="preencoded.png">    </p:cNvPr>
          <p:cNvPicPr>
            <a:picLocks noChangeAspect="1"/>
          </p:cNvPicPr>
          <p:nvPr/>
        </p:nvPicPr>
        <p:blipFill>
          <a:blip r:embed="rId1"/>
          <a:stretch>
            <a:fillRect/>
          </a:stretch>
        </p:blipFill>
        <p:spPr>
          <a:xfrm>
            <a:off x="6728521" y="1882201"/>
            <a:ext cx="313822" cy="313822"/>
          </a:xfrm>
          <a:prstGeom prst="rect">
            <a:avLst/>
          </a:prstGeom>
        </p:spPr>
      </p:pic>
      <p:sp>
        <p:nvSpPr>
          <p:cNvPr id="27" name="Text 24"/>
          <p:cNvSpPr txBox="1"/>
          <p:nvPr/>
        </p:nvSpPr>
        <p:spPr>
          <a:xfrm>
            <a:off x="7406640" y="1719072"/>
            <a:ext cx="4206240" cy="365760"/>
          </a:xfrm>
          <a:prstGeom prst="rect">
            <a:avLst/>
          </a:prstGeom>
          <a:noFill/>
          <a:ln/>
        </p:spPr>
        <p:txBody>
          <a:bodyPr wrap="square" lIns="0" tIns="0" rIns="0" bIns="0" rtlCol="0" anchor="t"/>
          <a:lstStyle/>
          <a:p>
            <a:pPr indent="0" marL="0">
              <a:buNone/>
            </a:pPr>
            <a:r>
              <a:rPr lang="en-US" sz="1800" b="1" dirty="0">
                <a:solidFill>
                  <a:schemeClr val="bg1"/>
                </a:solidFill>
              </a:rPr>
              <a:t>Prices can't be compared</a:t>
            </a:r>
            <a:endParaRPr lang="en-US" sz="1800" dirty="0"/>
          </a:p>
        </p:txBody>
      </p:sp>
      <p:sp>
        <p:nvSpPr>
          <p:cNvPr id="28" name="Text 25"/>
          <p:cNvSpPr txBox="1"/>
          <p:nvPr/>
        </p:nvSpPr>
        <p:spPr>
          <a:xfrm>
            <a:off x="7406640" y="2084832"/>
            <a:ext cx="4206240" cy="365760"/>
          </a:xfrm>
          <a:prstGeom prst="rect">
            <a:avLst/>
          </a:prstGeom>
          <a:noFill/>
          <a:ln/>
        </p:spPr>
        <p:txBody>
          <a:bodyPr wrap="square" lIns="0" tIns="0" rIns="0" bIns="0" rtlCol="0" anchor="t"/>
          <a:lstStyle/>
          <a:p>
            <a:pPr indent="0" marL="0">
              <a:buNone/>
            </a:pPr>
            <a:r>
              <a:rPr lang="en-US" sz="1400" dirty="0">
                <a:solidFill>
                  <a:schemeClr val="bg2"/>
                </a:solidFill>
              </a:rPr>
              <a:t>Different lots, quote units, purity and expiry</a:t>
            </a:r>
            <a:endParaRPr lang="en-US" sz="1400" dirty="0"/>
          </a:p>
        </p:txBody>
      </p:sp>
      <p:sp>
        <p:nvSpPr>
          <p:cNvPr id="29" name="Backtests overstate profit circle"/>
          <p:cNvSpPr/>
          <p:nvPr/>
        </p:nvSpPr>
        <p:spPr>
          <a:xfrm>
            <a:off x="6583680" y="2816352"/>
            <a:ext cx="603504" cy="603504"/>
          </a:xfrm>
          <a:prstGeom prst="ellipse">
            <a:avLst/>
          </a:prstGeom>
          <a:solidFill>
            <a:srgbClr val="5B8DEF"/>
          </a:solidFill>
          <a:ln/>
        </p:spPr>
      </p:sp>
      <p:pic>
        <p:nvPicPr>
          <p:cNvPr id="30" name="Backtests overstate profit icon" descr="preencoded.png">    </p:cNvPr>
          <p:cNvPicPr>
            <a:picLocks noChangeAspect="1"/>
          </p:cNvPicPr>
          <p:nvPr/>
        </p:nvPicPr>
        <p:blipFill>
          <a:blip r:embed="rId2"/>
          <a:stretch>
            <a:fillRect/>
          </a:stretch>
        </p:blipFill>
        <p:spPr>
          <a:xfrm>
            <a:off x="6728521" y="2961193"/>
            <a:ext cx="313822" cy="313822"/>
          </a:xfrm>
          <a:prstGeom prst="rect">
            <a:avLst/>
          </a:prstGeom>
        </p:spPr>
      </p:pic>
      <p:sp>
        <p:nvSpPr>
          <p:cNvPr id="31" name="Text 27"/>
          <p:cNvSpPr txBox="1"/>
          <p:nvPr/>
        </p:nvSpPr>
        <p:spPr>
          <a:xfrm>
            <a:off x="7406640" y="2798064"/>
            <a:ext cx="4206240" cy="365760"/>
          </a:xfrm>
          <a:prstGeom prst="rect">
            <a:avLst/>
          </a:prstGeom>
          <a:noFill/>
          <a:ln/>
        </p:spPr>
        <p:txBody>
          <a:bodyPr wrap="square" lIns="0" tIns="0" rIns="0" bIns="0" rtlCol="0" anchor="t"/>
          <a:lstStyle/>
          <a:p>
            <a:pPr indent="0" marL="0">
              <a:buNone/>
            </a:pPr>
            <a:r>
              <a:rPr lang="en-US" sz="1800" b="1" dirty="0">
                <a:solidFill>
                  <a:schemeClr val="bg1"/>
                </a:solidFill>
              </a:rPr>
              <a:t>Backtests overstate profit</a:t>
            </a:r>
            <a:endParaRPr lang="en-US" sz="1800" dirty="0"/>
          </a:p>
        </p:txBody>
      </p:sp>
      <p:sp>
        <p:nvSpPr>
          <p:cNvPr id="32" name="Text 28"/>
          <p:cNvSpPr txBox="1"/>
          <p:nvPr/>
        </p:nvSpPr>
        <p:spPr>
          <a:xfrm>
            <a:off x="7406640" y="3163824"/>
            <a:ext cx="4206240" cy="365760"/>
          </a:xfrm>
          <a:prstGeom prst="rect">
            <a:avLst/>
          </a:prstGeom>
          <a:noFill/>
          <a:ln/>
        </p:spPr>
        <p:txBody>
          <a:bodyPr wrap="square" lIns="0" tIns="0" rIns="0" bIns="0" rtlCol="0" anchor="t"/>
          <a:lstStyle/>
          <a:p>
            <a:pPr indent="0" marL="0">
              <a:buNone/>
            </a:pPr>
            <a:r>
              <a:rPr lang="en-US" sz="1400" dirty="0">
                <a:solidFill>
                  <a:schemeClr val="bg2"/>
                </a:solidFill>
              </a:rPr>
              <a:t>Look-ahead and missing costs fake an edge</a:t>
            </a:r>
            <a:endParaRPr lang="en-US" sz="1400" dirty="0"/>
          </a:p>
        </p:txBody>
      </p:sp>
      <p:sp>
        <p:nvSpPr>
          <p:cNvPr id="33" name="Tips promise the impossible circle"/>
          <p:cNvSpPr/>
          <p:nvPr/>
        </p:nvSpPr>
        <p:spPr>
          <a:xfrm>
            <a:off x="6583680" y="3895344"/>
            <a:ext cx="603504" cy="603504"/>
          </a:xfrm>
          <a:prstGeom prst="ellipse">
            <a:avLst/>
          </a:prstGeom>
          <a:solidFill>
            <a:srgbClr val="F0566A"/>
          </a:solidFill>
          <a:ln/>
        </p:spPr>
      </p:sp>
      <p:pic>
        <p:nvPicPr>
          <p:cNvPr id="34" name="Tips promise the impossible icon" descr="preencoded.png">    </p:cNvPr>
          <p:cNvPicPr>
            <a:picLocks noChangeAspect="1"/>
          </p:cNvPicPr>
          <p:nvPr/>
        </p:nvPicPr>
        <p:blipFill>
          <a:blip r:embed="rId3"/>
          <a:stretch>
            <a:fillRect/>
          </a:stretch>
        </p:blipFill>
        <p:spPr>
          <a:xfrm>
            <a:off x="6728521" y="4040185"/>
            <a:ext cx="313822" cy="313822"/>
          </a:xfrm>
          <a:prstGeom prst="rect">
            <a:avLst/>
          </a:prstGeom>
        </p:spPr>
      </p:pic>
      <p:sp>
        <p:nvSpPr>
          <p:cNvPr id="35" name="Text 30"/>
          <p:cNvSpPr txBox="1"/>
          <p:nvPr/>
        </p:nvSpPr>
        <p:spPr>
          <a:xfrm>
            <a:off x="7406640" y="3877056"/>
            <a:ext cx="4206240" cy="365760"/>
          </a:xfrm>
          <a:prstGeom prst="rect">
            <a:avLst/>
          </a:prstGeom>
          <a:noFill/>
          <a:ln/>
        </p:spPr>
        <p:txBody>
          <a:bodyPr wrap="square" lIns="0" tIns="0" rIns="0" bIns="0" rtlCol="0" anchor="t"/>
          <a:lstStyle/>
          <a:p>
            <a:pPr indent="0" marL="0">
              <a:buNone/>
            </a:pPr>
            <a:r>
              <a:rPr lang="en-US" sz="1800" b="1" dirty="0">
                <a:solidFill>
                  <a:schemeClr val="bg1"/>
                </a:solidFill>
              </a:rPr>
              <a:t>Tips promise the impossible</a:t>
            </a:r>
            <a:endParaRPr lang="en-US" sz="1800" dirty="0"/>
          </a:p>
        </p:txBody>
      </p:sp>
      <p:sp>
        <p:nvSpPr>
          <p:cNvPr id="36" name="Text 31"/>
          <p:cNvSpPr txBox="1"/>
          <p:nvPr/>
        </p:nvSpPr>
        <p:spPr>
          <a:xfrm>
            <a:off x="7406640" y="4242816"/>
            <a:ext cx="4206240" cy="365760"/>
          </a:xfrm>
          <a:prstGeom prst="rect">
            <a:avLst/>
          </a:prstGeom>
          <a:noFill/>
          <a:ln/>
        </p:spPr>
        <p:txBody>
          <a:bodyPr wrap="square" lIns="0" tIns="0" rIns="0" bIns="0" rtlCol="0" anchor="t"/>
          <a:lstStyle/>
          <a:p>
            <a:pPr indent="0" marL="0">
              <a:buNone/>
            </a:pPr>
            <a:r>
              <a:rPr lang="en-US" sz="1400" dirty="0">
                <a:solidFill>
                  <a:schemeClr val="bg2"/>
                </a:solidFill>
              </a:rPr>
              <a:t>"40% a year, guaranteed" floods Telegram</a:t>
            </a:r>
            <a:endParaRPr lang="en-US" sz="1400" dirty="0"/>
          </a:p>
        </p:txBody>
      </p:sp>
      <p:sp>
        <p:nvSpPr>
          <p:cNvPr id="37" name="Why it matters"/>
          <p:cNvSpPr/>
          <p:nvPr/>
        </p:nvSpPr>
        <p:spPr>
          <a:xfrm>
            <a:off x="6583680" y="5029200"/>
            <a:ext cx="5056632" cy="1143000"/>
          </a:xfrm>
          <a:prstGeom prst="roundRect">
            <a:avLst>
              <a:gd name="adj" fmla="val 9600"/>
            </a:avLst>
          </a:prstGeom>
          <a:solidFill>
            <a:schemeClr val="tx2"/>
          </a:solidFill>
          <a:ln w="12700">
            <a:solidFill>
              <a:srgbClr val="222B3A"/>
            </a:solidFill>
            <a:prstDash val="solid"/>
          </a:ln>
        </p:spPr>
      </p:sp>
      <p:sp>
        <p:nvSpPr>
          <p:cNvPr id="38" name="Text 33"/>
          <p:cNvSpPr txBox="1"/>
          <p:nvPr/>
        </p:nvSpPr>
        <p:spPr>
          <a:xfrm>
            <a:off x="6784848" y="5138928"/>
            <a:ext cx="1463040" cy="685800"/>
          </a:xfrm>
          <a:prstGeom prst="rect">
            <a:avLst/>
          </a:prstGeom>
          <a:noFill/>
          <a:ln/>
        </p:spPr>
        <p:txBody>
          <a:bodyPr wrap="square" lIns="0" tIns="0" rIns="0" bIns="0" rtlCol="0" anchor="ctr"/>
          <a:lstStyle/>
          <a:p>
            <a:pPr indent="0" marL="0">
              <a:buNone/>
            </a:pPr>
            <a:r>
              <a:rPr lang="en-US" sz="4000" b="1" dirty="0">
                <a:solidFill>
                  <a:schemeClr val="accent6"/>
                </a:solidFill>
                <a:latin typeface="Arial" pitchFamily="34" charset="0"/>
                <a:ea typeface="Arial" pitchFamily="34" charset="-122"/>
                <a:cs typeface="Arial" pitchFamily="34" charset="-120"/>
              </a:rPr>
              <a:t>93%</a:t>
            </a:r>
            <a:endParaRPr lang="en-US" sz="4000" dirty="0"/>
          </a:p>
        </p:txBody>
      </p:sp>
      <p:sp>
        <p:nvSpPr>
          <p:cNvPr id="39" name="Text 34"/>
          <p:cNvSpPr txBox="1"/>
          <p:nvPr/>
        </p:nvSpPr>
        <p:spPr>
          <a:xfrm>
            <a:off x="8275320" y="5166360"/>
            <a:ext cx="3246120" cy="914400"/>
          </a:xfrm>
          <a:prstGeom prst="rect">
            <a:avLst/>
          </a:prstGeom>
          <a:noFill/>
          <a:ln/>
        </p:spPr>
        <p:txBody>
          <a:bodyPr wrap="square" lIns="0" tIns="0" rIns="0" bIns="0" rtlCol="0" anchor="t"/>
          <a:lstStyle/>
          <a:p>
            <a:pPr indent="0" marL="0">
              <a:buNone/>
            </a:pPr>
            <a:r>
              <a:rPr lang="en-US" sz="1100" b="1" spc="200" kern="0" dirty="0">
                <a:solidFill>
                  <a:schemeClr val="accent1"/>
                </a:solidFill>
              </a:rPr>
              <a:t>WHY IT MATTERS</a:t>
            </a:r>
            <a:endParaRPr lang="en-US" sz="1100" dirty="0"/>
          </a:p>
          <a:p>
            <a:pPr indent="0" marL="0">
              <a:buNone/>
            </a:pPr>
            <a:r>
              <a:rPr lang="en-US" sz="1400" dirty="0">
                <a:solidFill>
                  <a:schemeClr val="bg1"/>
                </a:solidFill>
              </a:rPr>
              <a:t>of individual F&amp;O traders lost money, FY22–FY24 (SEBI study, 2024)</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OUR SOLUTION</a:t>
            </a: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GoldLens puts every contract on one honest scale</a:t>
            </a:r>
            <a:endParaRPr lang="en-US" sz="3200" dirty="0"/>
          </a:p>
        </p:txBody>
      </p:sp>
      <p:sp>
        <p:nvSpPr>
          <p:cNvPr id="4" name="Chart panel"/>
          <p:cNvSpPr/>
          <p:nvPr/>
        </p:nvSpPr>
        <p:spPr>
          <a:xfrm>
            <a:off x="548640" y="1645920"/>
            <a:ext cx="6766560" cy="4526280"/>
          </a:xfrm>
          <a:prstGeom prst="roundRect">
            <a:avLst>
              <a:gd name="adj" fmla="val 2424"/>
            </a:avLst>
          </a:prstGeom>
          <a:solidFill>
            <a:schemeClr val="tx2"/>
          </a:solidFill>
          <a:ln w="12700">
            <a:solidFill>
              <a:srgbClr val="222B3A"/>
            </a:solidFill>
            <a:prstDash val="solid"/>
          </a:ln>
        </p:spPr>
      </p:sp>
      <p:graphicFrame>
        <p:nvGraphicFramePr>
          <p:cNvPr id="5" name="Normalised prices chart" descr=""/>
          <p:cNvGraphicFramePr/>
          <p:nvPr/>
        </p:nvGraphicFramePr>
        <p:xfrm>
          <a:off x="685800" y="1783080"/>
          <a:ext cx="6492240" cy="4251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35240" y="1691640"/>
            <a:ext cx="39319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WHAT MAKES IT DIFFERENT</a:t>
            </a:r>
            <a:endParaRPr lang="en-US" sz="1200" dirty="0"/>
          </a:p>
        </p:txBody>
      </p:sp>
      <p:sp>
        <p:nvSpPr>
          <p:cNvPr id="7" name="One scale circle"/>
          <p:cNvSpPr/>
          <p:nvPr/>
        </p:nvSpPr>
        <p:spPr>
          <a:xfrm>
            <a:off x="7635240" y="2103120"/>
            <a:ext cx="512064" cy="512064"/>
          </a:xfrm>
          <a:prstGeom prst="ellipse">
            <a:avLst/>
          </a:prstGeom>
          <a:solidFill>
            <a:srgbClr val="E0B04A"/>
          </a:solidFill>
          <a:ln/>
        </p:spPr>
      </p:sp>
      <p:pic>
        <p:nvPicPr>
          <p:cNvPr id="8" name="One scale icon" descr="preencoded.png">    </p:cNvPr>
          <p:cNvPicPr>
            <a:picLocks noChangeAspect="1"/>
          </p:cNvPicPr>
          <p:nvPr/>
        </p:nvPicPr>
        <p:blipFill>
          <a:blip r:embed="rId2"/>
          <a:stretch>
            <a:fillRect/>
          </a:stretch>
        </p:blipFill>
        <p:spPr>
          <a:xfrm>
            <a:off x="7758135" y="2226015"/>
            <a:ext cx="266273" cy="266273"/>
          </a:xfrm>
          <a:prstGeom prst="rect">
            <a:avLst/>
          </a:prstGeom>
        </p:spPr>
      </p:pic>
      <p:sp>
        <p:nvSpPr>
          <p:cNvPr id="9" name="Text 5"/>
          <p:cNvSpPr txBox="1"/>
          <p:nvPr/>
        </p:nvSpPr>
        <p:spPr>
          <a:xfrm>
            <a:off x="8339328" y="2075688"/>
            <a:ext cx="3291840" cy="320040"/>
          </a:xfrm>
          <a:prstGeom prst="rect">
            <a:avLst/>
          </a:prstGeom>
          <a:noFill/>
          <a:ln/>
        </p:spPr>
        <p:txBody>
          <a:bodyPr wrap="square" lIns="0" tIns="0" rIns="0" bIns="0" rtlCol="0" anchor="t"/>
          <a:lstStyle/>
          <a:p>
            <a:pPr indent="0" marL="0">
              <a:buNone/>
            </a:pPr>
            <a:r>
              <a:rPr lang="en-US" sz="1700" b="1" dirty="0">
                <a:solidFill>
                  <a:schemeClr val="bg1"/>
                </a:solidFill>
              </a:rPr>
              <a:t>One scale</a:t>
            </a:r>
            <a:endParaRPr lang="en-US" sz="1700" dirty="0"/>
          </a:p>
        </p:txBody>
      </p:sp>
      <p:sp>
        <p:nvSpPr>
          <p:cNvPr id="10" name="Text 6"/>
          <p:cNvSpPr txBox="1"/>
          <p:nvPr/>
        </p:nvSpPr>
        <p:spPr>
          <a:xfrm>
            <a:off x="8339328" y="2377440"/>
            <a:ext cx="3291840" cy="292608"/>
          </a:xfrm>
          <a:prstGeom prst="rect">
            <a:avLst/>
          </a:prstGeom>
          <a:noFill/>
          <a:ln/>
        </p:spPr>
        <p:txBody>
          <a:bodyPr wrap="square" lIns="0" tIns="0" rIns="0" bIns="0" rtlCol="0" anchor="t"/>
          <a:lstStyle/>
          <a:p>
            <a:pPr indent="0" marL="0">
              <a:buNone/>
            </a:pPr>
            <a:r>
              <a:rPr lang="en-US" sz="1300" dirty="0">
                <a:solidFill>
                  <a:schemeClr val="bg2"/>
                </a:solidFill>
              </a:rPr>
              <a:t>All four contracts in ₹ / 10 g of 999</a:t>
            </a:r>
            <a:endParaRPr lang="en-US" sz="1300" dirty="0"/>
          </a:p>
        </p:txBody>
      </p:sp>
      <p:sp>
        <p:nvSpPr>
          <p:cNvPr id="11" name="Cost-aware alerts circle"/>
          <p:cNvSpPr/>
          <p:nvPr/>
        </p:nvSpPr>
        <p:spPr>
          <a:xfrm>
            <a:off x="7635240" y="2944368"/>
            <a:ext cx="512064" cy="512064"/>
          </a:xfrm>
          <a:prstGeom prst="ellipse">
            <a:avLst/>
          </a:prstGeom>
          <a:solidFill>
            <a:srgbClr val="3CC9A7"/>
          </a:solidFill>
          <a:ln/>
        </p:spPr>
      </p:sp>
      <p:pic>
        <p:nvPicPr>
          <p:cNvPr id="12" name="Cost-aware alerts icon" descr="preencoded.png">    </p:cNvPr>
          <p:cNvPicPr>
            <a:picLocks noChangeAspect="1"/>
          </p:cNvPicPr>
          <p:nvPr/>
        </p:nvPicPr>
        <p:blipFill>
          <a:blip r:embed="rId3"/>
          <a:stretch>
            <a:fillRect/>
          </a:stretch>
        </p:blipFill>
        <p:spPr>
          <a:xfrm>
            <a:off x="7758135" y="3067263"/>
            <a:ext cx="266273" cy="266273"/>
          </a:xfrm>
          <a:prstGeom prst="rect">
            <a:avLst/>
          </a:prstGeom>
        </p:spPr>
      </p:pic>
      <p:sp>
        <p:nvSpPr>
          <p:cNvPr id="13" name="Text 8"/>
          <p:cNvSpPr txBox="1"/>
          <p:nvPr/>
        </p:nvSpPr>
        <p:spPr>
          <a:xfrm>
            <a:off x="8339328" y="2916936"/>
            <a:ext cx="3291840" cy="320040"/>
          </a:xfrm>
          <a:prstGeom prst="rect">
            <a:avLst/>
          </a:prstGeom>
          <a:noFill/>
          <a:ln/>
        </p:spPr>
        <p:txBody>
          <a:bodyPr wrap="square" lIns="0" tIns="0" rIns="0" bIns="0" rtlCol="0" anchor="t"/>
          <a:lstStyle/>
          <a:p>
            <a:pPr indent="0" marL="0">
              <a:buNone/>
            </a:pPr>
            <a:r>
              <a:rPr lang="en-US" sz="1700" b="1" dirty="0">
                <a:solidFill>
                  <a:schemeClr val="bg1"/>
                </a:solidFill>
              </a:rPr>
              <a:t>Cost-aware alerts</a:t>
            </a:r>
            <a:endParaRPr lang="en-US" sz="1700" dirty="0"/>
          </a:p>
        </p:txBody>
      </p:sp>
      <p:sp>
        <p:nvSpPr>
          <p:cNvPr id="14" name="Text 9"/>
          <p:cNvSpPr txBox="1"/>
          <p:nvPr/>
        </p:nvSpPr>
        <p:spPr>
          <a:xfrm>
            <a:off x="8339328" y="3218688"/>
            <a:ext cx="3291840" cy="292608"/>
          </a:xfrm>
          <a:prstGeom prst="rect">
            <a:avLst/>
          </a:prstGeom>
          <a:noFill/>
          <a:ln/>
        </p:spPr>
        <p:txBody>
          <a:bodyPr wrap="square" lIns="0" tIns="0" rIns="0" bIns="0" rtlCol="0" anchor="t"/>
          <a:lstStyle/>
          <a:p>
            <a:pPr indent="0" marL="0">
              <a:buNone/>
            </a:pPr>
            <a:r>
              <a:rPr lang="en-US" sz="1300" dirty="0">
                <a:solidFill>
                  <a:schemeClr val="bg2"/>
                </a:solidFill>
              </a:rPr>
              <a:t>Fires only if it pays after real costs</a:t>
            </a:r>
            <a:endParaRPr lang="en-US" sz="1300" dirty="0"/>
          </a:p>
        </p:txBody>
      </p:sp>
      <p:sp>
        <p:nvSpPr>
          <p:cNvPr id="15" name="Honest by design circle"/>
          <p:cNvSpPr/>
          <p:nvPr/>
        </p:nvSpPr>
        <p:spPr>
          <a:xfrm>
            <a:off x="7635240" y="3785616"/>
            <a:ext cx="512064" cy="512064"/>
          </a:xfrm>
          <a:prstGeom prst="ellipse">
            <a:avLst/>
          </a:prstGeom>
          <a:solidFill>
            <a:srgbClr val="5B8DEF"/>
          </a:solidFill>
          <a:ln/>
        </p:spPr>
      </p:sp>
      <p:pic>
        <p:nvPicPr>
          <p:cNvPr id="16" name="Honest by design icon" descr="preencoded.png">    </p:cNvPr>
          <p:cNvPicPr>
            <a:picLocks noChangeAspect="1"/>
          </p:cNvPicPr>
          <p:nvPr/>
        </p:nvPicPr>
        <p:blipFill>
          <a:blip r:embed="rId4"/>
          <a:stretch>
            <a:fillRect/>
          </a:stretch>
        </p:blipFill>
        <p:spPr>
          <a:xfrm>
            <a:off x="7758135" y="3908511"/>
            <a:ext cx="266273" cy="266273"/>
          </a:xfrm>
          <a:prstGeom prst="rect">
            <a:avLst/>
          </a:prstGeom>
        </p:spPr>
      </p:pic>
      <p:sp>
        <p:nvSpPr>
          <p:cNvPr id="17" name="Text 11"/>
          <p:cNvSpPr txBox="1"/>
          <p:nvPr/>
        </p:nvSpPr>
        <p:spPr>
          <a:xfrm>
            <a:off x="8339328" y="3758184"/>
            <a:ext cx="3291840" cy="320040"/>
          </a:xfrm>
          <a:prstGeom prst="rect">
            <a:avLst/>
          </a:prstGeom>
          <a:noFill/>
          <a:ln/>
        </p:spPr>
        <p:txBody>
          <a:bodyPr wrap="square" lIns="0" tIns="0" rIns="0" bIns="0" rtlCol="0" anchor="t"/>
          <a:lstStyle/>
          <a:p>
            <a:pPr indent="0" marL="0">
              <a:buNone/>
            </a:pPr>
            <a:r>
              <a:rPr lang="en-US" sz="1700" b="1" dirty="0">
                <a:solidFill>
                  <a:schemeClr val="bg1"/>
                </a:solidFill>
              </a:rPr>
              <a:t>Honest by design</a:t>
            </a:r>
            <a:endParaRPr lang="en-US" sz="1700" dirty="0"/>
          </a:p>
        </p:txBody>
      </p:sp>
      <p:sp>
        <p:nvSpPr>
          <p:cNvPr id="18" name="Text 12"/>
          <p:cNvSpPr txBox="1"/>
          <p:nvPr/>
        </p:nvSpPr>
        <p:spPr>
          <a:xfrm>
            <a:off x="8339328" y="4059936"/>
            <a:ext cx="3291840" cy="292608"/>
          </a:xfrm>
          <a:prstGeom prst="rect">
            <a:avLst/>
          </a:prstGeom>
          <a:noFill/>
          <a:ln/>
        </p:spPr>
        <p:txBody>
          <a:bodyPr wrap="square" lIns="0" tIns="0" rIns="0" bIns="0" rtlCol="0" anchor="t"/>
          <a:lstStyle/>
          <a:p>
            <a:pPr indent="0" marL="0">
              <a:buNone/>
            </a:pPr>
            <a:r>
              <a:rPr lang="en-US" sz="1300" dirty="0">
                <a:solidFill>
                  <a:schemeClr val="bg2"/>
                </a:solidFill>
              </a:rPr>
              <a:t>Every backtest flaw removed, step by step</a:t>
            </a:r>
            <a:endParaRPr lang="en-US" sz="1300" dirty="0"/>
          </a:p>
        </p:txBody>
      </p:sp>
      <p:sp>
        <p:nvSpPr>
          <p:cNvPr id="19" name="Tip lie detector circle"/>
          <p:cNvSpPr/>
          <p:nvPr/>
        </p:nvSpPr>
        <p:spPr>
          <a:xfrm>
            <a:off x="7635240" y="4626864"/>
            <a:ext cx="512064" cy="512064"/>
          </a:xfrm>
          <a:prstGeom prst="ellipse">
            <a:avLst/>
          </a:prstGeom>
          <a:solidFill>
            <a:srgbClr val="F0566A"/>
          </a:solidFill>
          <a:ln/>
        </p:spPr>
      </p:sp>
      <p:pic>
        <p:nvPicPr>
          <p:cNvPr id="20" name="Tip lie detector icon" descr="preencoded.png">    </p:cNvPr>
          <p:cNvPicPr>
            <a:picLocks noChangeAspect="1"/>
          </p:cNvPicPr>
          <p:nvPr/>
        </p:nvPicPr>
        <p:blipFill>
          <a:blip r:embed="rId5"/>
          <a:stretch>
            <a:fillRect/>
          </a:stretch>
        </p:blipFill>
        <p:spPr>
          <a:xfrm>
            <a:off x="7758135" y="4749759"/>
            <a:ext cx="266273" cy="266273"/>
          </a:xfrm>
          <a:prstGeom prst="rect">
            <a:avLst/>
          </a:prstGeom>
        </p:spPr>
      </p:pic>
      <p:sp>
        <p:nvSpPr>
          <p:cNvPr id="21" name="Text 14"/>
          <p:cNvSpPr txBox="1"/>
          <p:nvPr/>
        </p:nvSpPr>
        <p:spPr>
          <a:xfrm>
            <a:off x="8339328" y="4599432"/>
            <a:ext cx="3291840" cy="320040"/>
          </a:xfrm>
          <a:prstGeom prst="rect">
            <a:avLst/>
          </a:prstGeom>
          <a:noFill/>
          <a:ln/>
        </p:spPr>
        <p:txBody>
          <a:bodyPr wrap="square" lIns="0" tIns="0" rIns="0" bIns="0" rtlCol="0" anchor="t"/>
          <a:lstStyle/>
          <a:p>
            <a:pPr indent="0" marL="0">
              <a:buNone/>
            </a:pPr>
            <a:r>
              <a:rPr lang="en-US" sz="1700" b="1" dirty="0">
                <a:solidFill>
                  <a:schemeClr val="bg1"/>
                </a:solidFill>
              </a:rPr>
              <a:t>Tip lie detector</a:t>
            </a:r>
            <a:endParaRPr lang="en-US" sz="1700" dirty="0"/>
          </a:p>
        </p:txBody>
      </p:sp>
      <p:sp>
        <p:nvSpPr>
          <p:cNvPr id="22" name="Text 15"/>
          <p:cNvSpPr txBox="1"/>
          <p:nvPr/>
        </p:nvSpPr>
        <p:spPr>
          <a:xfrm>
            <a:off x="8339328" y="4901184"/>
            <a:ext cx="3291840" cy="292608"/>
          </a:xfrm>
          <a:prstGeom prst="rect">
            <a:avLst/>
          </a:prstGeom>
          <a:noFill/>
          <a:ln/>
        </p:spPr>
        <p:txBody>
          <a:bodyPr wrap="square" lIns="0" tIns="0" rIns="0" bIns="0" rtlCol="0" anchor="t"/>
          <a:lstStyle/>
          <a:p>
            <a:pPr indent="0" marL="0">
              <a:buNone/>
            </a:pPr>
            <a:r>
              <a:rPr lang="en-US" sz="1300" dirty="0">
                <a:solidFill>
                  <a:schemeClr val="bg2"/>
                </a:solidFill>
              </a:rPr>
              <a:t>Busts "guaranteed" tips in seconds</a:t>
            </a:r>
            <a:endParaRPr lang="en-US" sz="1300" dirty="0"/>
          </a:p>
        </p:txBody>
      </p:sp>
      <p:sp>
        <p:nvSpPr>
          <p:cNvPr id="23" name="Formula strip"/>
          <p:cNvSpPr/>
          <p:nvPr/>
        </p:nvSpPr>
        <p:spPr>
          <a:xfrm>
            <a:off x="7635240" y="5532120"/>
            <a:ext cx="4005072" cy="640080"/>
          </a:xfrm>
          <a:prstGeom prst="roundRect">
            <a:avLst>
              <a:gd name="adj" fmla="val 17143"/>
            </a:avLst>
          </a:prstGeom>
          <a:solidFill>
            <a:schemeClr val="tx2"/>
          </a:solidFill>
          <a:ln w="12700">
            <a:solidFill>
              <a:srgbClr val="222B3A"/>
            </a:solidFill>
            <a:prstDash val="solid"/>
          </a:ln>
        </p:spPr>
      </p:sp>
      <p:sp>
        <p:nvSpPr>
          <p:cNvPr id="24" name="Text 17"/>
          <p:cNvSpPr txBox="1"/>
          <p:nvPr/>
        </p:nvSpPr>
        <p:spPr>
          <a:xfrm>
            <a:off x="7818120" y="5532120"/>
            <a:ext cx="3749040" cy="640080"/>
          </a:xfrm>
          <a:prstGeom prst="rect">
            <a:avLst/>
          </a:prstGeom>
          <a:noFill/>
          <a:ln/>
        </p:spPr>
        <p:txBody>
          <a:bodyPr wrap="square" lIns="0" tIns="0" rIns="0" bIns="0" rtlCol="0" anchor="ctr"/>
          <a:lstStyle/>
          <a:p>
            <a:pPr indent="0" marL="0">
              <a:buNone/>
            </a:pPr>
            <a:r>
              <a:rPr lang="en-US" sz="1400" dirty="0">
                <a:solidFill>
                  <a:schemeClr val="accent1"/>
                </a:solidFill>
                <a:latin typeface="Courier New" pitchFamily="34" charset="0"/>
                <a:ea typeface="Courier New" pitchFamily="34" charset="-122"/>
                <a:cs typeface="Courier New" pitchFamily="34" charset="-120"/>
              </a:rPr>
              <a:t>px10 = price · 10/g · 999/purity</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HOW THE PROTOTYPE WORKS</a:t>
            </a: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From raw MCX files to one honest decision</a:t>
            </a:r>
            <a:endParaRPr lang="en-US" sz="3200" dirty="0"/>
          </a:p>
        </p:txBody>
      </p:sp>
      <p:sp>
        <p:nvSpPr>
          <p:cNvPr id="4" name="Step 1"/>
          <p:cNvSpPr/>
          <p:nvPr/>
        </p:nvSpPr>
        <p:spPr>
          <a:xfrm>
            <a:off x="548640" y="1691640"/>
            <a:ext cx="1947672" cy="2148840"/>
          </a:xfrm>
          <a:prstGeom prst="roundRect">
            <a:avLst>
              <a:gd name="adj" fmla="val 5634"/>
            </a:avLst>
          </a:prstGeom>
          <a:solidFill>
            <a:schemeClr val="tx2"/>
          </a:solidFill>
          <a:ln w="12700">
            <a:solidFill>
              <a:srgbClr val="222B3A"/>
            </a:solidFill>
            <a:prstDash val="solid"/>
          </a:ln>
        </p:spPr>
      </p:sp>
      <p:sp>
        <p:nvSpPr>
          <p:cNvPr id="5" name="Ingest circle"/>
          <p:cNvSpPr/>
          <p:nvPr/>
        </p:nvSpPr>
        <p:spPr>
          <a:xfrm>
            <a:off x="749808" y="1874520"/>
            <a:ext cx="640080" cy="640080"/>
          </a:xfrm>
          <a:prstGeom prst="ellipse">
            <a:avLst/>
          </a:prstGeom>
          <a:solidFill>
            <a:srgbClr val="E0B04A"/>
          </a:solidFill>
          <a:ln/>
        </p:spPr>
      </p:sp>
      <p:pic>
        <p:nvPicPr>
          <p:cNvPr id="6" name="Ingest icon" descr="preencoded.png">    </p:cNvPr>
          <p:cNvPicPr>
            <a:picLocks noChangeAspect="1"/>
          </p:cNvPicPr>
          <p:nvPr/>
        </p:nvPicPr>
        <p:blipFill>
          <a:blip r:embed="rId1"/>
          <a:stretch>
            <a:fillRect/>
          </a:stretch>
        </p:blipFill>
        <p:spPr>
          <a:xfrm>
            <a:off x="903427" y="2028139"/>
            <a:ext cx="332842" cy="332842"/>
          </a:xfrm>
          <a:prstGeom prst="rect">
            <a:avLst/>
          </a:prstGeom>
        </p:spPr>
      </p:pic>
      <p:sp>
        <p:nvSpPr>
          <p:cNvPr id="7" name="Text 4"/>
          <p:cNvSpPr txBox="1"/>
          <p:nvPr/>
        </p:nvSpPr>
        <p:spPr>
          <a:xfrm>
            <a:off x="749808" y="2670048"/>
            <a:ext cx="1645920" cy="365760"/>
          </a:xfrm>
          <a:prstGeom prst="rect">
            <a:avLst/>
          </a:prstGeom>
          <a:noFill/>
          <a:ln/>
        </p:spPr>
        <p:txBody>
          <a:bodyPr wrap="square" lIns="0" tIns="0" rIns="0" bIns="0" rtlCol="0" anchor="t"/>
          <a:lstStyle/>
          <a:p>
            <a:pPr indent="0" marL="0">
              <a:buNone/>
            </a:pPr>
            <a:r>
              <a:rPr lang="en-US" sz="1700" b="1" dirty="0">
                <a:solidFill>
                  <a:schemeClr val="bg1"/>
                </a:solidFill>
              </a:rPr>
              <a:t>1  Ingest</a:t>
            </a:r>
            <a:endParaRPr lang="en-US" sz="1700" dirty="0"/>
          </a:p>
        </p:txBody>
      </p:sp>
      <p:sp>
        <p:nvSpPr>
          <p:cNvPr id="8" name="Text 5"/>
          <p:cNvSpPr txBox="1"/>
          <p:nvPr/>
        </p:nvSpPr>
        <p:spPr>
          <a:xfrm>
            <a:off x="749808" y="3063240"/>
            <a:ext cx="1645920" cy="640080"/>
          </a:xfrm>
          <a:prstGeom prst="rect">
            <a:avLst/>
          </a:prstGeom>
          <a:noFill/>
          <a:ln/>
        </p:spPr>
        <p:txBody>
          <a:bodyPr wrap="square" lIns="0" tIns="0" rIns="0" bIns="0" rtlCol="0" anchor="t"/>
          <a:lstStyle/>
          <a:p>
            <a:pPr indent="0" marL="0">
              <a:buNone/>
            </a:pPr>
            <a:r>
              <a:rPr lang="en-US" sz="1400" dirty="0">
                <a:solidFill>
                  <a:schemeClr val="bg2"/>
                </a:solidFill>
              </a:rPr>
              <a:t>Daily MCX files, validated</a:t>
            </a:r>
            <a:endParaRPr lang="en-US" sz="1400" dirty="0"/>
          </a:p>
        </p:txBody>
      </p:sp>
      <p:pic>
        <p:nvPicPr>
          <p:cNvPr id="9" name="Arrow 1" descr="preencoded.png">    </p:cNvPr>
          <p:cNvPicPr>
            <a:picLocks noChangeAspect="1"/>
          </p:cNvPicPr>
          <p:nvPr/>
        </p:nvPicPr>
        <p:blipFill>
          <a:blip r:embed="rId2"/>
          <a:stretch>
            <a:fillRect/>
          </a:stretch>
        </p:blipFill>
        <p:spPr>
          <a:xfrm>
            <a:off x="2551176" y="2633472"/>
            <a:ext cx="228600" cy="228600"/>
          </a:xfrm>
          <a:prstGeom prst="rect">
            <a:avLst/>
          </a:prstGeom>
        </p:spPr>
      </p:pic>
      <p:sp>
        <p:nvSpPr>
          <p:cNvPr id="10" name="Step 2"/>
          <p:cNvSpPr/>
          <p:nvPr/>
        </p:nvSpPr>
        <p:spPr>
          <a:xfrm>
            <a:off x="2834640" y="1691640"/>
            <a:ext cx="1947672" cy="2148840"/>
          </a:xfrm>
          <a:prstGeom prst="roundRect">
            <a:avLst>
              <a:gd name="adj" fmla="val 5634"/>
            </a:avLst>
          </a:prstGeom>
          <a:solidFill>
            <a:schemeClr val="tx2"/>
          </a:solidFill>
          <a:ln w="12700">
            <a:solidFill>
              <a:srgbClr val="222B3A"/>
            </a:solidFill>
            <a:prstDash val="solid"/>
          </a:ln>
        </p:spPr>
      </p:sp>
      <p:sp>
        <p:nvSpPr>
          <p:cNvPr id="11" name="Normalise circle"/>
          <p:cNvSpPr/>
          <p:nvPr/>
        </p:nvSpPr>
        <p:spPr>
          <a:xfrm>
            <a:off x="3035808" y="1874520"/>
            <a:ext cx="640080" cy="640080"/>
          </a:xfrm>
          <a:prstGeom prst="ellipse">
            <a:avLst/>
          </a:prstGeom>
          <a:solidFill>
            <a:srgbClr val="5B8DEF"/>
          </a:solidFill>
          <a:ln/>
        </p:spPr>
      </p:sp>
      <p:pic>
        <p:nvPicPr>
          <p:cNvPr id="12" name="Normalise icon" descr="preencoded.png">    </p:cNvPr>
          <p:cNvPicPr>
            <a:picLocks noChangeAspect="1"/>
          </p:cNvPicPr>
          <p:nvPr/>
        </p:nvPicPr>
        <p:blipFill>
          <a:blip r:embed="rId3"/>
          <a:stretch>
            <a:fillRect/>
          </a:stretch>
        </p:blipFill>
        <p:spPr>
          <a:xfrm>
            <a:off x="3189427" y="2028139"/>
            <a:ext cx="332842" cy="332842"/>
          </a:xfrm>
          <a:prstGeom prst="rect">
            <a:avLst/>
          </a:prstGeom>
        </p:spPr>
      </p:pic>
      <p:sp>
        <p:nvSpPr>
          <p:cNvPr id="13" name="Text 8"/>
          <p:cNvSpPr txBox="1"/>
          <p:nvPr/>
        </p:nvSpPr>
        <p:spPr>
          <a:xfrm>
            <a:off x="3035808" y="2670048"/>
            <a:ext cx="1645920" cy="365760"/>
          </a:xfrm>
          <a:prstGeom prst="rect">
            <a:avLst/>
          </a:prstGeom>
          <a:noFill/>
          <a:ln/>
        </p:spPr>
        <p:txBody>
          <a:bodyPr wrap="square" lIns="0" tIns="0" rIns="0" bIns="0" rtlCol="0" anchor="t"/>
          <a:lstStyle/>
          <a:p>
            <a:pPr indent="0" marL="0">
              <a:buNone/>
            </a:pPr>
            <a:r>
              <a:rPr lang="en-US" sz="1700" b="1" dirty="0">
                <a:solidFill>
                  <a:schemeClr val="bg1"/>
                </a:solidFill>
              </a:rPr>
              <a:t>2  Normalise</a:t>
            </a:r>
            <a:endParaRPr lang="en-US" sz="1700" dirty="0"/>
          </a:p>
        </p:txBody>
      </p:sp>
      <p:sp>
        <p:nvSpPr>
          <p:cNvPr id="14" name="Text 9"/>
          <p:cNvSpPr txBox="1"/>
          <p:nvPr/>
        </p:nvSpPr>
        <p:spPr>
          <a:xfrm>
            <a:off x="3035808" y="3063240"/>
            <a:ext cx="1645920" cy="640080"/>
          </a:xfrm>
          <a:prstGeom prst="rect">
            <a:avLst/>
          </a:prstGeom>
          <a:noFill/>
          <a:ln/>
        </p:spPr>
        <p:txBody>
          <a:bodyPr wrap="square" lIns="0" tIns="0" rIns="0" bIns="0" rtlCol="0" anchor="t"/>
          <a:lstStyle/>
          <a:p>
            <a:pPr indent="0" marL="0">
              <a:buNone/>
            </a:pPr>
            <a:r>
              <a:rPr lang="en-US" sz="1400" dirty="0">
                <a:solidFill>
                  <a:schemeClr val="bg2"/>
                </a:solidFill>
              </a:rPr>
              <a:t>₹ per 10 g of 999 gold</a:t>
            </a:r>
            <a:endParaRPr lang="en-US" sz="1400" dirty="0"/>
          </a:p>
        </p:txBody>
      </p:sp>
      <p:pic>
        <p:nvPicPr>
          <p:cNvPr id="15" name="Arrow 2" descr="preencoded.png">    </p:cNvPr>
          <p:cNvPicPr>
            <a:picLocks noChangeAspect="1"/>
          </p:cNvPicPr>
          <p:nvPr/>
        </p:nvPicPr>
        <p:blipFill>
          <a:blip r:embed="rId4"/>
          <a:stretch>
            <a:fillRect/>
          </a:stretch>
        </p:blipFill>
        <p:spPr>
          <a:xfrm>
            <a:off x="4837176" y="2633472"/>
            <a:ext cx="228600" cy="228600"/>
          </a:xfrm>
          <a:prstGeom prst="rect">
            <a:avLst/>
          </a:prstGeom>
        </p:spPr>
      </p:pic>
      <p:sp>
        <p:nvSpPr>
          <p:cNvPr id="16" name="Step 3"/>
          <p:cNvSpPr/>
          <p:nvPr/>
        </p:nvSpPr>
        <p:spPr>
          <a:xfrm>
            <a:off x="5120640" y="1691640"/>
            <a:ext cx="1947672" cy="2148840"/>
          </a:xfrm>
          <a:prstGeom prst="roundRect">
            <a:avLst>
              <a:gd name="adj" fmla="val 5634"/>
            </a:avLst>
          </a:prstGeom>
          <a:solidFill>
            <a:schemeClr val="tx2"/>
          </a:solidFill>
          <a:ln w="12700">
            <a:solidFill>
              <a:srgbClr val="222B3A"/>
            </a:solidFill>
            <a:prstDash val="solid"/>
          </a:ln>
        </p:spPr>
      </p:sp>
      <p:sp>
        <p:nvSpPr>
          <p:cNvPr id="17" name="Model circle"/>
          <p:cNvSpPr/>
          <p:nvPr/>
        </p:nvSpPr>
        <p:spPr>
          <a:xfrm>
            <a:off x="5321808" y="1874520"/>
            <a:ext cx="640080" cy="640080"/>
          </a:xfrm>
          <a:prstGeom prst="ellipse">
            <a:avLst/>
          </a:prstGeom>
          <a:solidFill>
            <a:srgbClr val="F07A8C"/>
          </a:solidFill>
          <a:ln/>
        </p:spPr>
      </p:sp>
      <p:pic>
        <p:nvPicPr>
          <p:cNvPr id="18" name="Model icon" descr="preencoded.png">    </p:cNvPr>
          <p:cNvPicPr>
            <a:picLocks noChangeAspect="1"/>
          </p:cNvPicPr>
          <p:nvPr/>
        </p:nvPicPr>
        <p:blipFill>
          <a:blip r:embed="rId5"/>
          <a:stretch>
            <a:fillRect/>
          </a:stretch>
        </p:blipFill>
        <p:spPr>
          <a:xfrm>
            <a:off x="5475427" y="2028139"/>
            <a:ext cx="332842" cy="332842"/>
          </a:xfrm>
          <a:prstGeom prst="rect">
            <a:avLst/>
          </a:prstGeom>
        </p:spPr>
      </p:pic>
      <p:sp>
        <p:nvSpPr>
          <p:cNvPr id="19" name="Text 12"/>
          <p:cNvSpPr txBox="1"/>
          <p:nvPr/>
        </p:nvSpPr>
        <p:spPr>
          <a:xfrm>
            <a:off x="5321808" y="2670048"/>
            <a:ext cx="1645920" cy="365760"/>
          </a:xfrm>
          <a:prstGeom prst="rect">
            <a:avLst/>
          </a:prstGeom>
          <a:noFill/>
          <a:ln/>
        </p:spPr>
        <p:txBody>
          <a:bodyPr wrap="square" lIns="0" tIns="0" rIns="0" bIns="0" rtlCol="0" anchor="t"/>
          <a:lstStyle/>
          <a:p>
            <a:pPr indent="0" marL="0">
              <a:buNone/>
            </a:pPr>
            <a:r>
              <a:rPr lang="en-US" sz="1700" b="1" dirty="0">
                <a:solidFill>
                  <a:schemeClr val="bg1"/>
                </a:solidFill>
              </a:rPr>
              <a:t>3  Model</a:t>
            </a:r>
            <a:endParaRPr lang="en-US" sz="1700" dirty="0"/>
          </a:p>
        </p:txBody>
      </p:sp>
      <p:sp>
        <p:nvSpPr>
          <p:cNvPr id="20" name="Text 13"/>
          <p:cNvSpPr txBox="1"/>
          <p:nvPr/>
        </p:nvSpPr>
        <p:spPr>
          <a:xfrm>
            <a:off x="5321808" y="3063240"/>
            <a:ext cx="1645920" cy="640080"/>
          </a:xfrm>
          <a:prstGeom prst="rect">
            <a:avLst/>
          </a:prstGeom>
          <a:noFill/>
          <a:ln/>
        </p:spPr>
        <p:txBody>
          <a:bodyPr wrap="square" lIns="0" tIns="0" rIns="0" bIns="0" rtlCol="0" anchor="t"/>
          <a:lstStyle/>
          <a:p>
            <a:pPr indent="0" marL="0">
              <a:buNone/>
            </a:pPr>
            <a:r>
              <a:rPr lang="en-US" sz="1400" dirty="0">
                <a:solidFill>
                  <a:schemeClr val="bg2"/>
                </a:solidFill>
              </a:rPr>
              <a:t>Carry curve + past-only z-scores</a:t>
            </a:r>
            <a:endParaRPr lang="en-US" sz="1400" dirty="0"/>
          </a:p>
        </p:txBody>
      </p:sp>
      <p:pic>
        <p:nvPicPr>
          <p:cNvPr id="21" name="Arrow 3" descr="preencoded.png">    </p:cNvPr>
          <p:cNvPicPr>
            <a:picLocks noChangeAspect="1"/>
          </p:cNvPicPr>
          <p:nvPr/>
        </p:nvPicPr>
        <p:blipFill>
          <a:blip r:embed="rId6"/>
          <a:stretch>
            <a:fillRect/>
          </a:stretch>
        </p:blipFill>
        <p:spPr>
          <a:xfrm>
            <a:off x="7123176" y="2633472"/>
            <a:ext cx="228600" cy="228600"/>
          </a:xfrm>
          <a:prstGeom prst="rect">
            <a:avLst/>
          </a:prstGeom>
        </p:spPr>
      </p:pic>
      <p:sp>
        <p:nvSpPr>
          <p:cNvPr id="22" name="Step 4"/>
          <p:cNvSpPr/>
          <p:nvPr/>
        </p:nvSpPr>
        <p:spPr>
          <a:xfrm>
            <a:off x="7406640" y="1691640"/>
            <a:ext cx="1947672" cy="2148840"/>
          </a:xfrm>
          <a:prstGeom prst="roundRect">
            <a:avLst>
              <a:gd name="adj" fmla="val 5634"/>
            </a:avLst>
          </a:prstGeom>
          <a:solidFill>
            <a:schemeClr val="tx2"/>
          </a:solidFill>
          <a:ln w="12700">
            <a:solidFill>
              <a:srgbClr val="222B3A"/>
            </a:solidFill>
            <a:prstDash val="solid"/>
          </a:ln>
        </p:spPr>
      </p:sp>
      <p:sp>
        <p:nvSpPr>
          <p:cNvPr id="23" name="Gate circle"/>
          <p:cNvSpPr/>
          <p:nvPr/>
        </p:nvSpPr>
        <p:spPr>
          <a:xfrm>
            <a:off x="7607808" y="1874520"/>
            <a:ext cx="640080" cy="640080"/>
          </a:xfrm>
          <a:prstGeom prst="ellipse">
            <a:avLst/>
          </a:prstGeom>
          <a:solidFill>
            <a:srgbClr val="3CC9A7"/>
          </a:solidFill>
          <a:ln/>
        </p:spPr>
      </p:sp>
      <p:pic>
        <p:nvPicPr>
          <p:cNvPr id="24" name="Gate icon" descr="preencoded.png">    </p:cNvPr>
          <p:cNvPicPr>
            <a:picLocks noChangeAspect="1"/>
          </p:cNvPicPr>
          <p:nvPr/>
        </p:nvPicPr>
        <p:blipFill>
          <a:blip r:embed="rId7"/>
          <a:stretch>
            <a:fillRect/>
          </a:stretch>
        </p:blipFill>
        <p:spPr>
          <a:xfrm>
            <a:off x="7761427" y="2028139"/>
            <a:ext cx="332842" cy="332842"/>
          </a:xfrm>
          <a:prstGeom prst="rect">
            <a:avLst/>
          </a:prstGeom>
        </p:spPr>
      </p:pic>
      <p:sp>
        <p:nvSpPr>
          <p:cNvPr id="25" name="Text 16"/>
          <p:cNvSpPr txBox="1"/>
          <p:nvPr/>
        </p:nvSpPr>
        <p:spPr>
          <a:xfrm>
            <a:off x="7607808" y="2670048"/>
            <a:ext cx="1645920" cy="365760"/>
          </a:xfrm>
          <a:prstGeom prst="rect">
            <a:avLst/>
          </a:prstGeom>
          <a:noFill/>
          <a:ln/>
        </p:spPr>
        <p:txBody>
          <a:bodyPr wrap="square" lIns="0" tIns="0" rIns="0" bIns="0" rtlCol="0" anchor="t"/>
          <a:lstStyle/>
          <a:p>
            <a:pPr indent="0" marL="0">
              <a:buNone/>
            </a:pPr>
            <a:r>
              <a:rPr lang="en-US" sz="1700" b="1" dirty="0">
                <a:solidFill>
                  <a:schemeClr val="bg1"/>
                </a:solidFill>
              </a:rPr>
              <a:t>4  Gate</a:t>
            </a:r>
            <a:endParaRPr lang="en-US" sz="1700" dirty="0"/>
          </a:p>
        </p:txBody>
      </p:sp>
      <p:sp>
        <p:nvSpPr>
          <p:cNvPr id="26" name="Text 17"/>
          <p:cNvSpPr txBox="1"/>
          <p:nvPr/>
        </p:nvSpPr>
        <p:spPr>
          <a:xfrm>
            <a:off x="7607808" y="3063240"/>
            <a:ext cx="1645920" cy="640080"/>
          </a:xfrm>
          <a:prstGeom prst="rect">
            <a:avLst/>
          </a:prstGeom>
          <a:noFill/>
          <a:ln/>
        </p:spPr>
        <p:txBody>
          <a:bodyPr wrap="square" lIns="0" tIns="0" rIns="0" bIns="0" rtlCol="0" anchor="t"/>
          <a:lstStyle/>
          <a:p>
            <a:pPr indent="0" marL="0">
              <a:buNone/>
            </a:pPr>
            <a:r>
              <a:rPr lang="en-US" sz="1400" dirty="0">
                <a:solidFill>
                  <a:schemeClr val="bg2"/>
                </a:solidFill>
              </a:rPr>
              <a:t>Unusual, liquid, pays after costs</a:t>
            </a:r>
            <a:endParaRPr lang="en-US" sz="1400" dirty="0"/>
          </a:p>
        </p:txBody>
      </p:sp>
      <p:pic>
        <p:nvPicPr>
          <p:cNvPr id="27" name="Arrow 4" descr="preencoded.png">    </p:cNvPr>
          <p:cNvPicPr>
            <a:picLocks noChangeAspect="1"/>
          </p:cNvPicPr>
          <p:nvPr/>
        </p:nvPicPr>
        <p:blipFill>
          <a:blip r:embed="rId8"/>
          <a:stretch>
            <a:fillRect/>
          </a:stretch>
        </p:blipFill>
        <p:spPr>
          <a:xfrm>
            <a:off x="9409176" y="2633472"/>
            <a:ext cx="228600" cy="228600"/>
          </a:xfrm>
          <a:prstGeom prst="rect">
            <a:avLst/>
          </a:prstGeom>
        </p:spPr>
      </p:pic>
      <p:sp>
        <p:nvSpPr>
          <p:cNvPr id="28" name="Step 5"/>
          <p:cNvSpPr/>
          <p:nvPr/>
        </p:nvSpPr>
        <p:spPr>
          <a:xfrm>
            <a:off x="9692640" y="1691640"/>
            <a:ext cx="1947672" cy="2148840"/>
          </a:xfrm>
          <a:prstGeom prst="roundRect">
            <a:avLst>
              <a:gd name="adj" fmla="val 5634"/>
            </a:avLst>
          </a:prstGeom>
          <a:solidFill>
            <a:schemeClr val="tx2"/>
          </a:solidFill>
          <a:ln w="12700">
            <a:solidFill>
              <a:srgbClr val="222B3A"/>
            </a:solidFill>
            <a:prstDash val="solid"/>
          </a:ln>
        </p:spPr>
      </p:sp>
      <p:sp>
        <p:nvSpPr>
          <p:cNvPr id="29" name="Deliver circle"/>
          <p:cNvSpPr/>
          <p:nvPr/>
        </p:nvSpPr>
        <p:spPr>
          <a:xfrm>
            <a:off x="9893808" y="1874520"/>
            <a:ext cx="640080" cy="640080"/>
          </a:xfrm>
          <a:prstGeom prst="ellipse">
            <a:avLst/>
          </a:prstGeom>
          <a:solidFill>
            <a:srgbClr val="26C281"/>
          </a:solidFill>
          <a:ln/>
        </p:spPr>
      </p:sp>
      <p:pic>
        <p:nvPicPr>
          <p:cNvPr id="30" name="Deliver icon" descr="preencoded.png">    </p:cNvPr>
          <p:cNvPicPr>
            <a:picLocks noChangeAspect="1"/>
          </p:cNvPicPr>
          <p:nvPr/>
        </p:nvPicPr>
        <p:blipFill>
          <a:blip r:embed="rId9"/>
          <a:stretch>
            <a:fillRect/>
          </a:stretch>
        </p:blipFill>
        <p:spPr>
          <a:xfrm>
            <a:off x="10047427" y="2028139"/>
            <a:ext cx="332842" cy="332842"/>
          </a:xfrm>
          <a:prstGeom prst="rect">
            <a:avLst/>
          </a:prstGeom>
        </p:spPr>
      </p:pic>
      <p:sp>
        <p:nvSpPr>
          <p:cNvPr id="31" name="Text 20"/>
          <p:cNvSpPr txBox="1"/>
          <p:nvPr/>
        </p:nvSpPr>
        <p:spPr>
          <a:xfrm>
            <a:off x="9893808" y="2670048"/>
            <a:ext cx="1645920" cy="365760"/>
          </a:xfrm>
          <a:prstGeom prst="rect">
            <a:avLst/>
          </a:prstGeom>
          <a:noFill/>
          <a:ln/>
        </p:spPr>
        <p:txBody>
          <a:bodyPr wrap="square" lIns="0" tIns="0" rIns="0" bIns="0" rtlCol="0" anchor="t"/>
          <a:lstStyle/>
          <a:p>
            <a:pPr indent="0" marL="0">
              <a:buNone/>
            </a:pPr>
            <a:r>
              <a:rPr lang="en-US" sz="1700" b="1" dirty="0">
                <a:solidFill>
                  <a:schemeClr val="bg1"/>
                </a:solidFill>
              </a:rPr>
              <a:t>5  Deliver</a:t>
            </a:r>
            <a:endParaRPr lang="en-US" sz="1700" dirty="0"/>
          </a:p>
        </p:txBody>
      </p:sp>
      <p:sp>
        <p:nvSpPr>
          <p:cNvPr id="32" name="Text 21"/>
          <p:cNvSpPr txBox="1"/>
          <p:nvPr/>
        </p:nvSpPr>
        <p:spPr>
          <a:xfrm>
            <a:off x="9893808" y="3063240"/>
            <a:ext cx="1645920" cy="640080"/>
          </a:xfrm>
          <a:prstGeom prst="rect">
            <a:avLst/>
          </a:prstGeom>
          <a:noFill/>
          <a:ln/>
        </p:spPr>
        <p:txBody>
          <a:bodyPr wrap="square" lIns="0" tIns="0" rIns="0" bIns="0" rtlCol="0" anchor="t"/>
          <a:lstStyle/>
          <a:p>
            <a:pPr indent="0" marL="0">
              <a:buNone/>
            </a:pPr>
            <a:r>
              <a:rPr lang="en-US" sz="1400" dirty="0">
                <a:solidFill>
                  <a:schemeClr val="bg2"/>
                </a:solidFill>
              </a:rPr>
              <a:t>Web, AI analyst, Telegram</a:t>
            </a:r>
            <a:endParaRPr lang="en-US" sz="1400" dirty="0"/>
          </a:p>
        </p:txBody>
      </p:sp>
      <p:sp>
        <p:nvSpPr>
          <p:cNvPr id="33" name="Text 22"/>
          <p:cNvSpPr txBox="1"/>
          <p:nvPr/>
        </p:nvSpPr>
        <p:spPr>
          <a:xfrm>
            <a:off x="548640" y="4160520"/>
            <a:ext cx="91440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LIVE EXAMPLE  ·  TODAY'S BEST CANDIDATE, GOLDM / GOLDPETAL (16 OCT 2026)</a:t>
            </a:r>
            <a:endParaRPr lang="en-US" sz="1200" dirty="0"/>
          </a:p>
        </p:txBody>
      </p:sp>
      <p:sp>
        <p:nvSpPr>
          <p:cNvPr id="34" name="Gate 1"/>
          <p:cNvSpPr/>
          <p:nvPr/>
        </p:nvSpPr>
        <p:spPr>
          <a:xfrm>
            <a:off x="548640" y="4572000"/>
            <a:ext cx="2468880" cy="1463040"/>
          </a:xfrm>
          <a:prstGeom prst="roundRect">
            <a:avLst>
              <a:gd name="adj" fmla="val 7500"/>
            </a:avLst>
          </a:prstGeom>
          <a:solidFill>
            <a:schemeClr val="tx2"/>
          </a:solidFill>
          <a:ln w="12700">
            <a:solidFill>
              <a:srgbClr val="222B3A"/>
            </a:solidFill>
            <a:prstDash val="solid"/>
          </a:ln>
        </p:spPr>
      </p:sp>
      <p:sp>
        <p:nvSpPr>
          <p:cNvPr id="35" name="Gate 1 result circle"/>
          <p:cNvSpPr/>
          <p:nvPr/>
        </p:nvSpPr>
        <p:spPr>
          <a:xfrm>
            <a:off x="2468880" y="4727448"/>
            <a:ext cx="384048" cy="384048"/>
          </a:xfrm>
          <a:prstGeom prst="ellipse">
            <a:avLst/>
          </a:prstGeom>
          <a:solidFill>
            <a:srgbClr val="F0566A"/>
          </a:solidFill>
          <a:ln/>
        </p:spPr>
      </p:sp>
      <p:pic>
        <p:nvPicPr>
          <p:cNvPr id="36" name="Gate 1 result icon" descr="preencoded.png">    </p:cNvPr>
          <p:cNvPicPr>
            <a:picLocks noChangeAspect="1"/>
          </p:cNvPicPr>
          <p:nvPr/>
        </p:nvPicPr>
        <p:blipFill>
          <a:blip r:embed="rId10"/>
          <a:stretch>
            <a:fillRect/>
          </a:stretch>
        </p:blipFill>
        <p:spPr>
          <a:xfrm>
            <a:off x="2561052" y="4819620"/>
            <a:ext cx="199705" cy="199705"/>
          </a:xfrm>
          <a:prstGeom prst="rect">
            <a:avLst/>
          </a:prstGeom>
        </p:spPr>
      </p:pic>
      <p:sp>
        <p:nvSpPr>
          <p:cNvPr id="37" name="Text 25"/>
          <p:cNvSpPr txBox="1"/>
          <p:nvPr/>
        </p:nvSpPr>
        <p:spPr>
          <a:xfrm>
            <a:off x="749808" y="4754880"/>
            <a:ext cx="1691640" cy="365760"/>
          </a:xfrm>
          <a:prstGeom prst="rect">
            <a:avLst/>
          </a:prstGeom>
          <a:noFill/>
          <a:ln/>
        </p:spPr>
        <p:txBody>
          <a:bodyPr wrap="square" lIns="0" tIns="0" rIns="0" bIns="0" rtlCol="0" anchor="t"/>
          <a:lstStyle/>
          <a:p>
            <a:pPr indent="0" marL="0">
              <a:buNone/>
            </a:pPr>
            <a:r>
              <a:rPr lang="en-US" sz="1700" b="1" dirty="0">
                <a:solidFill>
                  <a:schemeClr val="bg1"/>
                </a:solidFill>
              </a:rPr>
              <a:t>Unusual gap?</a:t>
            </a:r>
            <a:endParaRPr lang="en-US" sz="1700" dirty="0"/>
          </a:p>
        </p:txBody>
      </p:sp>
      <p:sp>
        <p:nvSpPr>
          <p:cNvPr id="38" name="Text 26"/>
          <p:cNvSpPr txBox="1"/>
          <p:nvPr/>
        </p:nvSpPr>
        <p:spPr>
          <a:xfrm>
            <a:off x="749808" y="5230368"/>
            <a:ext cx="2103120" cy="685800"/>
          </a:xfrm>
          <a:prstGeom prst="rect">
            <a:avLst/>
          </a:prstGeom>
          <a:noFill/>
          <a:ln/>
        </p:spPr>
        <p:txBody>
          <a:bodyPr wrap="square" lIns="0" tIns="0" rIns="0" bIns="0" rtlCol="0" anchor="t"/>
          <a:lstStyle/>
          <a:p>
            <a:pPr indent="0" marL="0">
              <a:buNone/>
            </a:pPr>
            <a:r>
              <a:rPr lang="en-US" sz="1400" dirty="0">
                <a:solidFill>
                  <a:schemeClr val="bg2"/>
                </a:solidFill>
              </a:rPr>
              <a:t>z = −1.88, needs ±2</a:t>
            </a:r>
            <a:endParaRPr lang="en-US" sz="1400" dirty="0"/>
          </a:p>
        </p:txBody>
      </p:sp>
      <p:pic>
        <p:nvPicPr>
          <p:cNvPr id="39" name="Gate arrow 1" descr="preencoded.png">    </p:cNvPr>
          <p:cNvPicPr>
            <a:picLocks noChangeAspect="1"/>
          </p:cNvPicPr>
          <p:nvPr/>
        </p:nvPicPr>
        <p:blipFill>
          <a:blip r:embed="rId11"/>
          <a:stretch>
            <a:fillRect/>
          </a:stretch>
        </p:blipFill>
        <p:spPr>
          <a:xfrm>
            <a:off x="3044952" y="5193792"/>
            <a:ext cx="219456" cy="219456"/>
          </a:xfrm>
          <a:prstGeom prst="rect">
            <a:avLst/>
          </a:prstGeom>
        </p:spPr>
      </p:pic>
      <p:sp>
        <p:nvSpPr>
          <p:cNvPr id="40" name="Gate 2"/>
          <p:cNvSpPr/>
          <p:nvPr/>
        </p:nvSpPr>
        <p:spPr>
          <a:xfrm>
            <a:off x="3291840" y="4572000"/>
            <a:ext cx="2468880" cy="1463040"/>
          </a:xfrm>
          <a:prstGeom prst="roundRect">
            <a:avLst>
              <a:gd name="adj" fmla="val 7500"/>
            </a:avLst>
          </a:prstGeom>
          <a:solidFill>
            <a:schemeClr val="tx2"/>
          </a:solidFill>
          <a:ln w="12700">
            <a:solidFill>
              <a:srgbClr val="222B3A"/>
            </a:solidFill>
            <a:prstDash val="solid"/>
          </a:ln>
        </p:spPr>
      </p:sp>
      <p:sp>
        <p:nvSpPr>
          <p:cNvPr id="41" name="Gate 2 result circle"/>
          <p:cNvSpPr/>
          <p:nvPr/>
        </p:nvSpPr>
        <p:spPr>
          <a:xfrm>
            <a:off x="5212080" y="4727448"/>
            <a:ext cx="384048" cy="384048"/>
          </a:xfrm>
          <a:prstGeom prst="ellipse">
            <a:avLst/>
          </a:prstGeom>
          <a:solidFill>
            <a:srgbClr val="26C281"/>
          </a:solidFill>
          <a:ln/>
        </p:spPr>
      </p:sp>
      <p:pic>
        <p:nvPicPr>
          <p:cNvPr id="42" name="Gate 2 result icon" descr="preencoded.png">    </p:cNvPr>
          <p:cNvPicPr>
            <a:picLocks noChangeAspect="1"/>
          </p:cNvPicPr>
          <p:nvPr/>
        </p:nvPicPr>
        <p:blipFill>
          <a:blip r:embed="rId12"/>
          <a:stretch>
            <a:fillRect/>
          </a:stretch>
        </p:blipFill>
        <p:spPr>
          <a:xfrm>
            <a:off x="5304252" y="4819620"/>
            <a:ext cx="199705" cy="199705"/>
          </a:xfrm>
          <a:prstGeom prst="rect">
            <a:avLst/>
          </a:prstGeom>
        </p:spPr>
      </p:pic>
      <p:sp>
        <p:nvSpPr>
          <p:cNvPr id="43" name="Text 29"/>
          <p:cNvSpPr txBox="1"/>
          <p:nvPr/>
        </p:nvSpPr>
        <p:spPr>
          <a:xfrm>
            <a:off x="3493008" y="4754880"/>
            <a:ext cx="1691640" cy="365760"/>
          </a:xfrm>
          <a:prstGeom prst="rect">
            <a:avLst/>
          </a:prstGeom>
          <a:noFill/>
          <a:ln/>
        </p:spPr>
        <p:txBody>
          <a:bodyPr wrap="square" lIns="0" tIns="0" rIns="0" bIns="0" rtlCol="0" anchor="t"/>
          <a:lstStyle/>
          <a:p>
            <a:pPr indent="0" marL="0">
              <a:buNone/>
            </a:pPr>
            <a:r>
              <a:rPr lang="en-US" sz="1700" b="1" dirty="0">
                <a:solidFill>
                  <a:schemeClr val="bg1"/>
                </a:solidFill>
              </a:rPr>
              <a:t>Liquid legs?</a:t>
            </a:r>
            <a:endParaRPr lang="en-US" sz="1700" dirty="0"/>
          </a:p>
        </p:txBody>
      </p:sp>
      <p:sp>
        <p:nvSpPr>
          <p:cNvPr id="44" name="Text 30"/>
          <p:cNvSpPr txBox="1"/>
          <p:nvPr/>
        </p:nvSpPr>
        <p:spPr>
          <a:xfrm>
            <a:off x="3493008" y="5230368"/>
            <a:ext cx="2103120" cy="685800"/>
          </a:xfrm>
          <a:prstGeom prst="rect">
            <a:avLst/>
          </a:prstGeom>
          <a:noFill/>
          <a:ln/>
        </p:spPr>
        <p:txBody>
          <a:bodyPr wrap="square" lIns="0" tIns="0" rIns="0" bIns="0" rtlCol="0" anchor="t"/>
          <a:lstStyle/>
          <a:p>
            <a:pPr indent="0" marL="0">
              <a:buNone/>
            </a:pPr>
            <a:r>
              <a:rPr lang="en-US" sz="1400" dirty="0">
                <a:solidFill>
                  <a:schemeClr val="bg2"/>
                </a:solidFill>
              </a:rPr>
              <a:t>37k and 162k lots traded</a:t>
            </a:r>
            <a:endParaRPr lang="en-US" sz="1400" dirty="0"/>
          </a:p>
        </p:txBody>
      </p:sp>
      <p:pic>
        <p:nvPicPr>
          <p:cNvPr id="45" name="Gate arrow 2" descr="preencoded.png">    </p:cNvPr>
          <p:cNvPicPr>
            <a:picLocks noChangeAspect="1"/>
          </p:cNvPicPr>
          <p:nvPr/>
        </p:nvPicPr>
        <p:blipFill>
          <a:blip r:embed="rId13"/>
          <a:stretch>
            <a:fillRect/>
          </a:stretch>
        </p:blipFill>
        <p:spPr>
          <a:xfrm>
            <a:off x="5788152" y="5193792"/>
            <a:ext cx="219456" cy="219456"/>
          </a:xfrm>
          <a:prstGeom prst="rect">
            <a:avLst/>
          </a:prstGeom>
        </p:spPr>
      </p:pic>
      <p:sp>
        <p:nvSpPr>
          <p:cNvPr id="46" name="Gate 3"/>
          <p:cNvSpPr/>
          <p:nvPr/>
        </p:nvSpPr>
        <p:spPr>
          <a:xfrm>
            <a:off x="6035040" y="4572000"/>
            <a:ext cx="2468880" cy="1463040"/>
          </a:xfrm>
          <a:prstGeom prst="roundRect">
            <a:avLst>
              <a:gd name="adj" fmla="val 7500"/>
            </a:avLst>
          </a:prstGeom>
          <a:solidFill>
            <a:schemeClr val="tx2"/>
          </a:solidFill>
          <a:ln w="12700">
            <a:solidFill>
              <a:srgbClr val="222B3A"/>
            </a:solidFill>
            <a:prstDash val="solid"/>
          </a:ln>
        </p:spPr>
      </p:sp>
      <p:sp>
        <p:nvSpPr>
          <p:cNvPr id="47" name="Gate 3 result circle"/>
          <p:cNvSpPr/>
          <p:nvPr/>
        </p:nvSpPr>
        <p:spPr>
          <a:xfrm>
            <a:off x="7955280" y="4727448"/>
            <a:ext cx="384048" cy="384048"/>
          </a:xfrm>
          <a:prstGeom prst="ellipse">
            <a:avLst/>
          </a:prstGeom>
          <a:solidFill>
            <a:srgbClr val="26C281"/>
          </a:solidFill>
          <a:ln/>
        </p:spPr>
      </p:sp>
      <p:pic>
        <p:nvPicPr>
          <p:cNvPr id="48" name="Gate 3 result icon" descr="preencoded.png">    </p:cNvPr>
          <p:cNvPicPr>
            <a:picLocks noChangeAspect="1"/>
          </p:cNvPicPr>
          <p:nvPr/>
        </p:nvPicPr>
        <p:blipFill>
          <a:blip r:embed="rId14"/>
          <a:stretch>
            <a:fillRect/>
          </a:stretch>
        </p:blipFill>
        <p:spPr>
          <a:xfrm>
            <a:off x="8047452" y="4819620"/>
            <a:ext cx="199705" cy="199705"/>
          </a:xfrm>
          <a:prstGeom prst="rect">
            <a:avLst/>
          </a:prstGeom>
        </p:spPr>
      </p:pic>
      <p:sp>
        <p:nvSpPr>
          <p:cNvPr id="49" name="Text 33"/>
          <p:cNvSpPr txBox="1"/>
          <p:nvPr/>
        </p:nvSpPr>
        <p:spPr>
          <a:xfrm>
            <a:off x="6236208" y="4754880"/>
            <a:ext cx="1691640" cy="365760"/>
          </a:xfrm>
          <a:prstGeom prst="rect">
            <a:avLst/>
          </a:prstGeom>
          <a:noFill/>
          <a:ln/>
        </p:spPr>
        <p:txBody>
          <a:bodyPr wrap="square" lIns="0" tIns="0" rIns="0" bIns="0" rtlCol="0" anchor="t"/>
          <a:lstStyle/>
          <a:p>
            <a:pPr indent="0" marL="0">
              <a:buNone/>
            </a:pPr>
            <a:r>
              <a:rPr lang="en-US" sz="1700" b="1" dirty="0">
                <a:solidFill>
                  <a:schemeClr val="bg1"/>
                </a:solidFill>
              </a:rPr>
              <a:t>Pays after costs?</a:t>
            </a:r>
            <a:endParaRPr lang="en-US" sz="1700" dirty="0"/>
          </a:p>
        </p:txBody>
      </p:sp>
      <p:sp>
        <p:nvSpPr>
          <p:cNvPr id="50" name="Text 34"/>
          <p:cNvSpPr txBox="1"/>
          <p:nvPr/>
        </p:nvSpPr>
        <p:spPr>
          <a:xfrm>
            <a:off x="6236208" y="5230368"/>
            <a:ext cx="2103120" cy="685800"/>
          </a:xfrm>
          <a:prstGeom prst="rect">
            <a:avLst/>
          </a:prstGeom>
          <a:noFill/>
          <a:ln/>
        </p:spPr>
        <p:txBody>
          <a:bodyPr wrap="square" lIns="0" tIns="0" rIns="0" bIns="0" rtlCol="0" anchor="t"/>
          <a:lstStyle/>
          <a:p>
            <a:pPr indent="0" marL="0">
              <a:buNone/>
            </a:pPr>
            <a:r>
              <a:rPr lang="en-US" sz="1400" dirty="0">
                <a:solidFill>
                  <a:schemeClr val="bg2"/>
                </a:solidFill>
              </a:rPr>
              <a:t>Edge ₹9,885 vs cost ₹1,985</a:t>
            </a:r>
            <a:endParaRPr lang="en-US" sz="1400" dirty="0"/>
          </a:p>
        </p:txBody>
      </p:sp>
      <p:pic>
        <p:nvPicPr>
          <p:cNvPr id="51" name="Gate arrow 3" descr="preencoded.png">    </p:cNvPr>
          <p:cNvPicPr>
            <a:picLocks noChangeAspect="1"/>
          </p:cNvPicPr>
          <p:nvPr/>
        </p:nvPicPr>
        <p:blipFill>
          <a:blip r:embed="rId15"/>
          <a:stretch>
            <a:fillRect/>
          </a:stretch>
        </p:blipFill>
        <p:spPr>
          <a:xfrm>
            <a:off x="8531352" y="5193792"/>
            <a:ext cx="219456" cy="219456"/>
          </a:xfrm>
          <a:prstGeom prst="rect">
            <a:avLst/>
          </a:prstGeom>
        </p:spPr>
      </p:pic>
      <p:sp>
        <p:nvSpPr>
          <p:cNvPr id="52" name="Gate outcome"/>
          <p:cNvSpPr/>
          <p:nvPr/>
        </p:nvSpPr>
        <p:spPr>
          <a:xfrm>
            <a:off x="8778240" y="4572000"/>
            <a:ext cx="2862072" cy="1463040"/>
          </a:xfrm>
          <a:prstGeom prst="roundRect">
            <a:avLst>
              <a:gd name="adj" fmla="val 7500"/>
            </a:avLst>
          </a:prstGeom>
          <a:solidFill>
            <a:schemeClr val="tx2"/>
          </a:solidFill>
          <a:ln w="12700">
            <a:solidFill>
              <a:srgbClr val="222B3A"/>
            </a:solidFill>
            <a:prstDash val="solid"/>
          </a:ln>
        </p:spPr>
      </p:sp>
      <p:sp>
        <p:nvSpPr>
          <p:cNvPr id="53" name="Text 36"/>
          <p:cNvSpPr txBox="1"/>
          <p:nvPr/>
        </p:nvSpPr>
        <p:spPr>
          <a:xfrm>
            <a:off x="8979408" y="4754880"/>
            <a:ext cx="2514600" cy="1188720"/>
          </a:xfrm>
          <a:prstGeom prst="rect">
            <a:avLst/>
          </a:prstGeom>
          <a:noFill/>
          <a:ln/>
        </p:spPr>
        <p:txBody>
          <a:bodyPr wrap="square" lIns="0" tIns="0" rIns="0" bIns="0" rtlCol="0" anchor="t"/>
          <a:lstStyle/>
          <a:p>
            <a:pPr indent="0" marL="0">
              <a:spcAft>
                <a:spcPts val="600"/>
              </a:spcAft>
              <a:buNone/>
            </a:pPr>
            <a:r>
              <a:rPr lang="en-US" sz="2000" b="1" dirty="0">
                <a:solidFill>
                  <a:schemeClr val="accent4"/>
                </a:solidFill>
              </a:rPr>
              <a:t>No alert today</a:t>
            </a:r>
            <a:endParaRPr lang="en-US" sz="2000" dirty="0"/>
          </a:p>
          <a:p>
            <a:pPr indent="0" marL="0">
              <a:spcAft>
                <a:spcPts val="600"/>
              </a:spcAft>
              <a:buNone/>
            </a:pPr>
            <a:r>
              <a:rPr lang="en-US" sz="1400" dirty="0">
                <a:solidFill>
                  <a:schemeClr val="bg1"/>
                </a:solidFill>
              </a:rPr>
              <a:t>Quiet by design: one gate failed, so no trade.</a:t>
            </a:r>
            <a:endParaRPr lang="en-US" sz="2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ARCHITECTURE AND TECHNOLOGY</a:t>
            </a: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One Python core powers web, AI and Telegram</a:t>
            </a:r>
            <a:endParaRPr lang="en-US" sz="3200" dirty="0"/>
          </a:p>
        </p:txBody>
      </p:sp>
      <p:sp>
        <p:nvSpPr>
          <p:cNvPr id="4" name="Text 2"/>
          <p:cNvSpPr txBox="1"/>
          <p:nvPr/>
        </p:nvSpPr>
        <p:spPr>
          <a:xfrm>
            <a:off x="548640" y="1645920"/>
            <a:ext cx="21031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DATA</a:t>
            </a:r>
            <a:endParaRPr lang="en-US" sz="1200" dirty="0"/>
          </a:p>
        </p:txBody>
      </p:sp>
      <p:sp>
        <p:nvSpPr>
          <p:cNvPr id="5" name="Text 3"/>
          <p:cNvSpPr txBox="1"/>
          <p:nvPr/>
        </p:nvSpPr>
        <p:spPr>
          <a:xfrm>
            <a:off x="3063240" y="1645920"/>
            <a:ext cx="210312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INGEST</a:t>
            </a:r>
            <a:endParaRPr lang="en-US" sz="1200" dirty="0"/>
          </a:p>
        </p:txBody>
      </p:sp>
      <p:sp>
        <p:nvSpPr>
          <p:cNvPr id="6" name="Text 4"/>
          <p:cNvSpPr txBox="1"/>
          <p:nvPr/>
        </p:nvSpPr>
        <p:spPr>
          <a:xfrm>
            <a:off x="5577840" y="1645920"/>
            <a:ext cx="28346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ANALYTICS CORE</a:t>
            </a:r>
            <a:endParaRPr lang="en-US" sz="1200" dirty="0"/>
          </a:p>
        </p:txBody>
      </p:sp>
      <p:sp>
        <p:nvSpPr>
          <p:cNvPr id="7" name="Text 5"/>
          <p:cNvSpPr txBox="1"/>
          <p:nvPr/>
        </p:nvSpPr>
        <p:spPr>
          <a:xfrm>
            <a:off x="9144000" y="1645920"/>
            <a:ext cx="246888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DELIVERY</a:t>
            </a:r>
            <a:endParaRPr lang="en-US" sz="1200" dirty="0"/>
          </a:p>
        </p:txBody>
      </p:sp>
      <p:sp>
        <p:nvSpPr>
          <p:cNvPr id="8" name="MCX Bhavcopy"/>
          <p:cNvSpPr/>
          <p:nvPr/>
        </p:nvSpPr>
        <p:spPr>
          <a:xfrm>
            <a:off x="548640" y="2057400"/>
            <a:ext cx="2103120" cy="1280160"/>
          </a:xfrm>
          <a:prstGeom prst="roundRect">
            <a:avLst>
              <a:gd name="adj" fmla="val 8571"/>
            </a:avLst>
          </a:prstGeom>
          <a:solidFill>
            <a:schemeClr val="tx2"/>
          </a:solidFill>
          <a:ln w="12700">
            <a:solidFill>
              <a:srgbClr val="222B3A"/>
            </a:solidFill>
            <a:prstDash val="solid"/>
          </a:ln>
        </p:spPr>
      </p:sp>
      <p:sp>
        <p:nvSpPr>
          <p:cNvPr id="9" name="Text 7"/>
          <p:cNvSpPr txBox="1"/>
          <p:nvPr/>
        </p:nvSpPr>
        <p:spPr>
          <a:xfrm>
            <a:off x="731520" y="2194560"/>
            <a:ext cx="1783080" cy="1051560"/>
          </a:xfrm>
          <a:prstGeom prst="rect">
            <a:avLst/>
          </a:prstGeom>
          <a:noFill/>
          <a:ln/>
        </p:spPr>
        <p:txBody>
          <a:bodyPr wrap="square" lIns="0" tIns="0" rIns="0" bIns="0" rtlCol="0" anchor="t"/>
          <a:lstStyle/>
          <a:p>
            <a:pPr indent="0" marL="0">
              <a:buNone/>
            </a:pPr>
            <a:r>
              <a:rPr lang="en-US" sz="1600" b="1" dirty="0">
                <a:solidFill>
                  <a:schemeClr val="bg1"/>
                </a:solidFill>
              </a:rPr>
              <a:t>MCX Bhavcopy</a:t>
            </a:r>
            <a:endParaRPr lang="en-US" sz="1600" dirty="0"/>
          </a:p>
          <a:p>
            <a:pPr indent="0" marL="0">
              <a:buNone/>
            </a:pPr>
            <a:r>
              <a:rPr lang="en-US" sz="1300" dirty="0">
                <a:solidFill>
                  <a:schemeClr val="bg2"/>
                </a:solidFill>
              </a:rPr>
              <a:t>Public daily settlements since 2023</a:t>
            </a:r>
            <a:endParaRPr lang="en-US" sz="1600" dirty="0"/>
          </a:p>
        </p:txBody>
      </p:sp>
      <p:sp>
        <p:nvSpPr>
          <p:cNvPr id="10" name="Upstox box"/>
          <p:cNvSpPr/>
          <p:nvPr/>
        </p:nvSpPr>
        <p:spPr>
          <a:xfrm>
            <a:off x="548640" y="3657600"/>
            <a:ext cx="2103120" cy="1280160"/>
          </a:xfrm>
          <a:prstGeom prst="roundRect">
            <a:avLst>
              <a:gd name="adj" fmla="val 8571"/>
            </a:avLst>
          </a:prstGeom>
          <a:solidFill>
            <a:schemeClr val="tx1"/>
          </a:solidFill>
          <a:ln w="12700">
            <a:solidFill>
              <a:srgbClr val="8A93A6"/>
            </a:solidFill>
            <a:prstDash val="dash"/>
          </a:ln>
        </p:spPr>
      </p:sp>
      <p:sp>
        <p:nvSpPr>
          <p:cNvPr id="11" name="Text 9"/>
          <p:cNvSpPr txBox="1"/>
          <p:nvPr/>
        </p:nvSpPr>
        <p:spPr>
          <a:xfrm>
            <a:off x="731520" y="3794760"/>
            <a:ext cx="1783080" cy="1051560"/>
          </a:xfrm>
          <a:prstGeom prst="rect">
            <a:avLst/>
          </a:prstGeom>
          <a:noFill/>
          <a:ln/>
        </p:spPr>
        <p:txBody>
          <a:bodyPr wrap="square" lIns="0" tIns="0" rIns="0" bIns="0" rtlCol="0" anchor="t"/>
          <a:lstStyle/>
          <a:p>
            <a:pPr indent="0" marL="0">
              <a:buNone/>
            </a:pPr>
            <a:r>
              <a:rPr lang="en-US" sz="1600" b="1" dirty="0">
                <a:solidFill>
                  <a:schemeClr val="bg1"/>
                </a:solidFill>
              </a:rPr>
              <a:t>Upstox API</a:t>
            </a:r>
            <a:endParaRPr lang="en-US" sz="1600" dirty="0"/>
          </a:p>
          <a:p>
            <a:pPr indent="0" marL="0">
              <a:buNone/>
            </a:pPr>
            <a:r>
              <a:rPr lang="en-US" sz="1300" dirty="0">
                <a:solidFill>
                  <a:schemeClr val="bg2"/>
                </a:solidFill>
              </a:rPr>
              <a:t>Live quotes, ready for the finale</a:t>
            </a:r>
            <a:endParaRPr lang="en-US" sz="1600" dirty="0"/>
          </a:p>
        </p:txBody>
      </p:sp>
      <p:sp>
        <p:nvSpPr>
          <p:cNvPr id="12" name="Ingest box"/>
          <p:cNvSpPr/>
          <p:nvPr/>
        </p:nvSpPr>
        <p:spPr>
          <a:xfrm>
            <a:off x="3063240" y="2057400"/>
            <a:ext cx="2103120" cy="2880360"/>
          </a:xfrm>
          <a:prstGeom prst="roundRect">
            <a:avLst>
              <a:gd name="adj" fmla="val 5217"/>
            </a:avLst>
          </a:prstGeom>
          <a:solidFill>
            <a:schemeClr val="tx2"/>
          </a:solidFill>
          <a:ln w="12700">
            <a:solidFill>
              <a:srgbClr val="222B3A"/>
            </a:solidFill>
            <a:prstDash val="solid"/>
          </a:ln>
        </p:spPr>
      </p:sp>
      <p:sp>
        <p:nvSpPr>
          <p:cNvPr id="13" name="Text 11"/>
          <p:cNvSpPr txBox="1"/>
          <p:nvPr/>
        </p:nvSpPr>
        <p:spPr>
          <a:xfrm>
            <a:off x="3246120" y="2194560"/>
            <a:ext cx="1828800" cy="265176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Fetch &amp; validate</a:t>
            </a:r>
            <a:endParaRPr lang="en-US" sz="1600" dirty="0"/>
          </a:p>
          <a:p>
            <a:pPr marL="342900" indent="-342900">
              <a:spcAft>
                <a:spcPts val="600"/>
              </a:spcAft>
              <a:buSzPct val="100000"/>
              <a:buChar char="•"/>
            </a:pPr>
            <a:r>
              <a:rPr lang="en-US" sz="1300" dirty="0">
                <a:solidFill>
                  <a:schemeClr val="bg2"/>
                </a:solidFill>
              </a:rPr>
              <a:t>Browser-grade fetch</a:t>
            </a:r>
            <a:endParaRPr lang="en-US" sz="1600" dirty="0"/>
          </a:p>
          <a:p>
            <a:pPr marL="342900" indent="-342900">
              <a:spcAft>
                <a:spcPts val="600"/>
              </a:spcAft>
              <a:buSzPct val="100000"/>
              <a:buChar char="•"/>
            </a:pPr>
            <a:r>
              <a:rPr lang="en-US" sz="1300" dirty="0">
                <a:solidFill>
                  <a:schemeClr val="bg2"/>
                </a:solidFill>
              </a:rPr>
              <a:t>Date &amp; holiday checks</a:t>
            </a:r>
            <a:endParaRPr lang="en-US" sz="1600" dirty="0"/>
          </a:p>
          <a:p>
            <a:pPr marL="342900" indent="-342900">
              <a:spcAft>
                <a:spcPts val="600"/>
              </a:spcAft>
              <a:buSzPct val="100000"/>
              <a:buChar char="•"/>
            </a:pPr>
            <a:r>
              <a:rPr lang="en-US" sz="1300" dirty="0">
                <a:solidFill>
                  <a:schemeClr val="bg2"/>
                </a:solidFill>
              </a:rPr>
              <a:t>Parquet cache, resumable</a:t>
            </a:r>
            <a:endParaRPr lang="en-US" sz="1600" dirty="0"/>
          </a:p>
        </p:txBody>
      </p:sp>
      <p:sp>
        <p:nvSpPr>
          <p:cNvPr id="14" name="Core container"/>
          <p:cNvSpPr/>
          <p:nvPr/>
        </p:nvSpPr>
        <p:spPr>
          <a:xfrm>
            <a:off x="5577840" y="2057400"/>
            <a:ext cx="2834640" cy="2880360"/>
          </a:xfrm>
          <a:prstGeom prst="roundRect">
            <a:avLst>
              <a:gd name="adj" fmla="val 3871"/>
            </a:avLst>
          </a:prstGeom>
          <a:solidFill>
            <a:schemeClr val="tx2"/>
          </a:solidFill>
          <a:ln w="12700">
            <a:solidFill>
              <a:srgbClr val="222B3A"/>
            </a:solidFill>
            <a:prstDash val="solid"/>
          </a:ln>
        </p:spPr>
      </p:sp>
      <p:sp>
        <p:nvSpPr>
          <p:cNvPr id="15" name="Module Normalise"/>
          <p:cNvSpPr/>
          <p:nvPr/>
        </p:nvSpPr>
        <p:spPr>
          <a:xfrm>
            <a:off x="5742432" y="2212848"/>
            <a:ext cx="2505456" cy="420624"/>
          </a:xfrm>
          <a:prstGeom prst="roundRect">
            <a:avLst>
              <a:gd name="adj" fmla="val 17391"/>
            </a:avLst>
          </a:prstGeom>
          <a:solidFill>
            <a:schemeClr val="tx1"/>
          </a:solidFill>
          <a:ln w="12700">
            <a:solidFill>
              <a:srgbClr val="E0B04A"/>
            </a:solidFill>
            <a:prstDash val="solid"/>
          </a:ln>
        </p:spPr>
      </p:sp>
      <p:sp>
        <p:nvSpPr>
          <p:cNvPr id="16" name="Text 14"/>
          <p:cNvSpPr txBox="1"/>
          <p:nvPr/>
        </p:nvSpPr>
        <p:spPr>
          <a:xfrm>
            <a:off x="5897880" y="2212848"/>
            <a:ext cx="2286000" cy="420624"/>
          </a:xfrm>
          <a:prstGeom prst="rect">
            <a:avLst/>
          </a:prstGeom>
          <a:noFill/>
          <a:ln/>
        </p:spPr>
        <p:txBody>
          <a:bodyPr wrap="square" lIns="0" tIns="0" rIns="0" bIns="0" rtlCol="0" anchor="ctr"/>
          <a:lstStyle/>
          <a:p>
            <a:pPr indent="0" marL="0">
              <a:buNone/>
            </a:pPr>
            <a:r>
              <a:rPr lang="en-US" sz="1400" dirty="0">
                <a:solidFill>
                  <a:schemeClr val="bg1"/>
                </a:solidFill>
              </a:rPr>
              <a:t>Normalise</a:t>
            </a:r>
            <a:endParaRPr lang="en-US" sz="1400" dirty="0"/>
          </a:p>
        </p:txBody>
      </p:sp>
      <p:sp>
        <p:nvSpPr>
          <p:cNvPr id="17" name="Module Curve &amp; carry"/>
          <p:cNvSpPr/>
          <p:nvPr/>
        </p:nvSpPr>
        <p:spPr>
          <a:xfrm>
            <a:off x="5742432" y="2743200"/>
            <a:ext cx="2505456" cy="420624"/>
          </a:xfrm>
          <a:prstGeom prst="roundRect">
            <a:avLst>
              <a:gd name="adj" fmla="val 17391"/>
            </a:avLst>
          </a:prstGeom>
          <a:solidFill>
            <a:schemeClr val="tx1"/>
          </a:solidFill>
          <a:ln w="12700">
            <a:solidFill>
              <a:srgbClr val="5B8DEF"/>
            </a:solidFill>
            <a:prstDash val="solid"/>
          </a:ln>
        </p:spPr>
      </p:sp>
      <p:sp>
        <p:nvSpPr>
          <p:cNvPr id="18" name="Text 16"/>
          <p:cNvSpPr txBox="1"/>
          <p:nvPr/>
        </p:nvSpPr>
        <p:spPr>
          <a:xfrm>
            <a:off x="5897880" y="2743200"/>
            <a:ext cx="2286000" cy="420624"/>
          </a:xfrm>
          <a:prstGeom prst="rect">
            <a:avLst/>
          </a:prstGeom>
          <a:noFill/>
          <a:ln/>
        </p:spPr>
        <p:txBody>
          <a:bodyPr wrap="square" lIns="0" tIns="0" rIns="0" bIns="0" rtlCol="0" anchor="ctr"/>
          <a:lstStyle/>
          <a:p>
            <a:pPr indent="0" marL="0">
              <a:buNone/>
            </a:pPr>
            <a:r>
              <a:rPr lang="en-US" sz="1400" dirty="0">
                <a:solidFill>
                  <a:schemeClr val="bg1"/>
                </a:solidFill>
              </a:rPr>
              <a:t>Curve &amp; carry</a:t>
            </a:r>
            <a:endParaRPr lang="en-US" sz="1400" dirty="0"/>
          </a:p>
        </p:txBody>
      </p:sp>
      <p:sp>
        <p:nvSpPr>
          <p:cNvPr id="19" name="Module Signals + cost gate"/>
          <p:cNvSpPr/>
          <p:nvPr/>
        </p:nvSpPr>
        <p:spPr>
          <a:xfrm>
            <a:off x="5742432" y="3273552"/>
            <a:ext cx="2505456" cy="420624"/>
          </a:xfrm>
          <a:prstGeom prst="roundRect">
            <a:avLst>
              <a:gd name="adj" fmla="val 17391"/>
            </a:avLst>
          </a:prstGeom>
          <a:solidFill>
            <a:schemeClr val="tx1"/>
          </a:solidFill>
          <a:ln w="12700">
            <a:solidFill>
              <a:srgbClr val="F07A8C"/>
            </a:solidFill>
            <a:prstDash val="solid"/>
          </a:ln>
        </p:spPr>
      </p:sp>
      <p:sp>
        <p:nvSpPr>
          <p:cNvPr id="20" name="Text 18"/>
          <p:cNvSpPr txBox="1"/>
          <p:nvPr/>
        </p:nvSpPr>
        <p:spPr>
          <a:xfrm>
            <a:off x="5897880" y="3273552"/>
            <a:ext cx="2286000" cy="420624"/>
          </a:xfrm>
          <a:prstGeom prst="rect">
            <a:avLst/>
          </a:prstGeom>
          <a:noFill/>
          <a:ln/>
        </p:spPr>
        <p:txBody>
          <a:bodyPr wrap="square" lIns="0" tIns="0" rIns="0" bIns="0" rtlCol="0" anchor="ctr"/>
          <a:lstStyle/>
          <a:p>
            <a:pPr indent="0" marL="0">
              <a:buNone/>
            </a:pPr>
            <a:r>
              <a:rPr lang="en-US" sz="1400" dirty="0">
                <a:solidFill>
                  <a:schemeClr val="bg1"/>
                </a:solidFill>
              </a:rPr>
              <a:t>Signals + cost gate</a:t>
            </a:r>
            <a:endParaRPr lang="en-US" sz="1400" dirty="0"/>
          </a:p>
        </p:txBody>
      </p:sp>
      <p:sp>
        <p:nvSpPr>
          <p:cNvPr id="21" name="Module Walk-forward backtest"/>
          <p:cNvSpPr/>
          <p:nvPr/>
        </p:nvSpPr>
        <p:spPr>
          <a:xfrm>
            <a:off x="5742432" y="3803904"/>
            <a:ext cx="2505456" cy="420624"/>
          </a:xfrm>
          <a:prstGeom prst="roundRect">
            <a:avLst>
              <a:gd name="adj" fmla="val 17391"/>
            </a:avLst>
          </a:prstGeom>
          <a:solidFill>
            <a:schemeClr val="tx1"/>
          </a:solidFill>
          <a:ln w="12700">
            <a:solidFill>
              <a:srgbClr val="3CC9A7"/>
            </a:solidFill>
            <a:prstDash val="solid"/>
          </a:ln>
        </p:spPr>
      </p:sp>
      <p:sp>
        <p:nvSpPr>
          <p:cNvPr id="22" name="Text 20"/>
          <p:cNvSpPr txBox="1"/>
          <p:nvPr/>
        </p:nvSpPr>
        <p:spPr>
          <a:xfrm>
            <a:off x="5897880" y="3803904"/>
            <a:ext cx="2286000" cy="420624"/>
          </a:xfrm>
          <a:prstGeom prst="rect">
            <a:avLst/>
          </a:prstGeom>
          <a:noFill/>
          <a:ln/>
        </p:spPr>
        <p:txBody>
          <a:bodyPr wrap="square" lIns="0" tIns="0" rIns="0" bIns="0" rtlCol="0" anchor="ctr"/>
          <a:lstStyle/>
          <a:p>
            <a:pPr indent="0" marL="0">
              <a:buNone/>
            </a:pPr>
            <a:r>
              <a:rPr lang="en-US" sz="1400" dirty="0">
                <a:solidFill>
                  <a:schemeClr val="bg1"/>
                </a:solidFill>
              </a:rPr>
              <a:t>Walk-forward backtest</a:t>
            </a:r>
            <a:endParaRPr lang="en-US" sz="1400" dirty="0"/>
          </a:p>
        </p:txBody>
      </p:sp>
      <p:sp>
        <p:nvSpPr>
          <p:cNvPr id="23" name="Module Tip Checker"/>
          <p:cNvSpPr/>
          <p:nvPr/>
        </p:nvSpPr>
        <p:spPr>
          <a:xfrm>
            <a:off x="5742432" y="4334256"/>
            <a:ext cx="2505456" cy="420624"/>
          </a:xfrm>
          <a:prstGeom prst="roundRect">
            <a:avLst>
              <a:gd name="adj" fmla="val 17391"/>
            </a:avLst>
          </a:prstGeom>
          <a:solidFill>
            <a:schemeClr val="tx1"/>
          </a:solidFill>
          <a:ln w="12700">
            <a:solidFill>
              <a:srgbClr val="E0B04A"/>
            </a:solidFill>
            <a:prstDash val="solid"/>
          </a:ln>
        </p:spPr>
      </p:sp>
      <p:sp>
        <p:nvSpPr>
          <p:cNvPr id="24" name="Text 22"/>
          <p:cNvSpPr txBox="1"/>
          <p:nvPr/>
        </p:nvSpPr>
        <p:spPr>
          <a:xfrm>
            <a:off x="5897880" y="4334256"/>
            <a:ext cx="2286000" cy="420624"/>
          </a:xfrm>
          <a:prstGeom prst="rect">
            <a:avLst/>
          </a:prstGeom>
          <a:noFill/>
          <a:ln/>
        </p:spPr>
        <p:txBody>
          <a:bodyPr wrap="square" lIns="0" tIns="0" rIns="0" bIns="0" rtlCol="0" anchor="ctr"/>
          <a:lstStyle/>
          <a:p>
            <a:pPr indent="0" marL="0">
              <a:buNone/>
            </a:pPr>
            <a:r>
              <a:rPr lang="en-US" sz="1400" dirty="0">
                <a:solidFill>
                  <a:schemeClr val="bg1"/>
                </a:solidFill>
              </a:rPr>
              <a:t>Tip Checker</a:t>
            </a:r>
            <a:endParaRPr lang="en-US" sz="1400" dirty="0"/>
          </a:p>
        </p:txBody>
      </p:sp>
      <p:sp>
        <p:nvSpPr>
          <p:cNvPr id="25" name="AI box"/>
          <p:cNvSpPr/>
          <p:nvPr/>
        </p:nvSpPr>
        <p:spPr>
          <a:xfrm>
            <a:off x="5577840" y="5257800"/>
            <a:ext cx="2834640" cy="868680"/>
          </a:xfrm>
          <a:prstGeom prst="roundRect">
            <a:avLst>
              <a:gd name="adj" fmla="val 12632"/>
            </a:avLst>
          </a:prstGeom>
          <a:solidFill>
            <a:schemeClr val="tx2"/>
          </a:solidFill>
          <a:ln w="12700">
            <a:solidFill>
              <a:srgbClr val="222B3A"/>
            </a:solidFill>
            <a:prstDash val="solid"/>
          </a:ln>
        </p:spPr>
      </p:sp>
      <p:sp>
        <p:nvSpPr>
          <p:cNvPr id="26" name="Text 24"/>
          <p:cNvSpPr txBox="1"/>
          <p:nvPr/>
        </p:nvSpPr>
        <p:spPr>
          <a:xfrm>
            <a:off x="5760720" y="5349240"/>
            <a:ext cx="2560320" cy="731520"/>
          </a:xfrm>
          <a:prstGeom prst="rect">
            <a:avLst/>
          </a:prstGeom>
          <a:noFill/>
          <a:ln/>
        </p:spPr>
        <p:txBody>
          <a:bodyPr wrap="square" lIns="0" tIns="0" rIns="0" bIns="0" rtlCol="0" anchor="t"/>
          <a:lstStyle/>
          <a:p>
            <a:pPr indent="0" marL="0">
              <a:buNone/>
            </a:pPr>
            <a:r>
              <a:rPr lang="en-US" sz="1500" b="1" dirty="0">
                <a:solidFill>
                  <a:schemeClr val="bg1"/>
                </a:solidFill>
              </a:rPr>
              <a:t>AI analyst</a:t>
            </a:r>
            <a:endParaRPr lang="en-US" sz="1500" dirty="0"/>
          </a:p>
          <a:p>
            <a:pPr indent="0" marL="0">
              <a:buNone/>
            </a:pPr>
            <a:r>
              <a:rPr lang="en-US" sz="1300" dirty="0">
                <a:solidFill>
                  <a:schemeClr val="bg2"/>
                </a:solidFill>
              </a:rPr>
              <a:t>Claude → Grok → OpenRouter</a:t>
            </a:r>
            <a:endParaRPr lang="en-US" sz="1500" dirty="0"/>
          </a:p>
        </p:txBody>
      </p:sp>
      <p:sp>
        <p:nvSpPr>
          <p:cNvPr id="27" name="Delivery Website"/>
          <p:cNvSpPr/>
          <p:nvPr/>
        </p:nvSpPr>
        <p:spPr>
          <a:xfrm>
            <a:off x="9144000" y="2057400"/>
            <a:ext cx="2496312" cy="868680"/>
          </a:xfrm>
          <a:prstGeom prst="roundRect">
            <a:avLst>
              <a:gd name="adj" fmla="val 12632"/>
            </a:avLst>
          </a:prstGeom>
          <a:solidFill>
            <a:schemeClr val="tx2"/>
          </a:solidFill>
          <a:ln w="12700">
            <a:solidFill>
              <a:srgbClr val="222B3A"/>
            </a:solidFill>
            <a:prstDash val="solid"/>
          </a:ln>
        </p:spPr>
      </p:sp>
      <p:sp>
        <p:nvSpPr>
          <p:cNvPr id="28" name="Text 26"/>
          <p:cNvSpPr txBox="1"/>
          <p:nvPr/>
        </p:nvSpPr>
        <p:spPr>
          <a:xfrm>
            <a:off x="9326880" y="2148840"/>
            <a:ext cx="2240280" cy="731520"/>
          </a:xfrm>
          <a:prstGeom prst="rect">
            <a:avLst/>
          </a:prstGeom>
          <a:noFill/>
          <a:ln/>
        </p:spPr>
        <p:txBody>
          <a:bodyPr wrap="square" lIns="0" tIns="0" rIns="0" bIns="0" rtlCol="0" anchor="t"/>
          <a:lstStyle/>
          <a:p>
            <a:pPr indent="0" marL="0">
              <a:buNone/>
            </a:pPr>
            <a:r>
              <a:rPr lang="en-US" sz="1500" b="1" dirty="0">
                <a:solidFill>
                  <a:schemeClr val="bg1"/>
                </a:solidFill>
              </a:rPr>
              <a:t>Website</a:t>
            </a:r>
            <a:endParaRPr lang="en-US" sz="1500" dirty="0"/>
          </a:p>
          <a:p>
            <a:pPr indent="0" marL="0">
              <a:buNone/>
            </a:pPr>
            <a:r>
              <a:rPr lang="en-US" sz="1300" dirty="0">
                <a:solidFill>
                  <a:schemeClr val="bg2"/>
                </a:solidFill>
              </a:rPr>
              <a:t>FastAPI · htmx · Plotly</a:t>
            </a:r>
            <a:endParaRPr lang="en-US" sz="1500" dirty="0"/>
          </a:p>
        </p:txBody>
      </p:sp>
      <p:sp>
        <p:nvSpPr>
          <p:cNvPr id="29" name="Core to Website"/>
          <p:cNvSpPr/>
          <p:nvPr/>
        </p:nvSpPr>
        <p:spPr>
          <a:xfrm>
            <a:off x="8458200" y="2487168"/>
            <a:ext cx="640080" cy="914"/>
          </a:xfrm>
          <a:prstGeom prst="line">
            <a:avLst/>
          </a:prstGeom>
          <a:noFill/>
          <a:ln w="22225">
            <a:solidFill>
              <a:srgbClr val="E0B04A"/>
            </a:solidFill>
            <a:prstDash val="solid"/>
            <a:tailEnd type="triangle"/>
          </a:ln>
        </p:spPr>
      </p:sp>
      <p:sp>
        <p:nvSpPr>
          <p:cNvPr id="30" name="Delivery Telegram bot"/>
          <p:cNvSpPr/>
          <p:nvPr/>
        </p:nvSpPr>
        <p:spPr>
          <a:xfrm>
            <a:off x="9144000" y="3081528"/>
            <a:ext cx="2496312" cy="868680"/>
          </a:xfrm>
          <a:prstGeom prst="roundRect">
            <a:avLst>
              <a:gd name="adj" fmla="val 12632"/>
            </a:avLst>
          </a:prstGeom>
          <a:solidFill>
            <a:schemeClr val="tx2"/>
          </a:solidFill>
          <a:ln w="12700">
            <a:solidFill>
              <a:srgbClr val="222B3A"/>
            </a:solidFill>
            <a:prstDash val="solid"/>
          </a:ln>
        </p:spPr>
      </p:sp>
      <p:sp>
        <p:nvSpPr>
          <p:cNvPr id="31" name="Text 29"/>
          <p:cNvSpPr txBox="1"/>
          <p:nvPr/>
        </p:nvSpPr>
        <p:spPr>
          <a:xfrm>
            <a:off x="9326880" y="3172968"/>
            <a:ext cx="2240280" cy="731520"/>
          </a:xfrm>
          <a:prstGeom prst="rect">
            <a:avLst/>
          </a:prstGeom>
          <a:noFill/>
          <a:ln/>
        </p:spPr>
        <p:txBody>
          <a:bodyPr wrap="square" lIns="0" tIns="0" rIns="0" bIns="0" rtlCol="0" anchor="t"/>
          <a:lstStyle/>
          <a:p>
            <a:pPr indent="0" marL="0">
              <a:buNone/>
            </a:pPr>
            <a:r>
              <a:rPr lang="en-US" sz="1500" b="1" dirty="0">
                <a:solidFill>
                  <a:schemeClr val="bg1"/>
                </a:solidFill>
              </a:rPr>
              <a:t>Telegram bot</a:t>
            </a:r>
            <a:endParaRPr lang="en-US" sz="1500" dirty="0"/>
          </a:p>
          <a:p>
            <a:pPr indent="0" marL="0">
              <a:buNone/>
            </a:pPr>
            <a:r>
              <a:rPr lang="en-US" sz="1300" dirty="0">
                <a:solidFill>
                  <a:schemeClr val="bg2"/>
                </a:solidFill>
              </a:rPr>
              <a:t>Morning brief + alerts</a:t>
            </a:r>
            <a:endParaRPr lang="en-US" sz="1500" dirty="0"/>
          </a:p>
        </p:txBody>
      </p:sp>
      <p:sp>
        <p:nvSpPr>
          <p:cNvPr id="32" name="Core to Telegram bot"/>
          <p:cNvSpPr/>
          <p:nvPr/>
        </p:nvSpPr>
        <p:spPr>
          <a:xfrm>
            <a:off x="8458200" y="3511296"/>
            <a:ext cx="640080" cy="914"/>
          </a:xfrm>
          <a:prstGeom prst="line">
            <a:avLst/>
          </a:prstGeom>
          <a:noFill/>
          <a:ln w="22225">
            <a:solidFill>
              <a:srgbClr val="E0B04A"/>
            </a:solidFill>
            <a:prstDash val="solid"/>
            <a:tailEnd type="triangle"/>
          </a:ln>
        </p:spPr>
      </p:sp>
      <p:sp>
        <p:nvSpPr>
          <p:cNvPr id="33" name="Delivery Landing page"/>
          <p:cNvSpPr/>
          <p:nvPr/>
        </p:nvSpPr>
        <p:spPr>
          <a:xfrm>
            <a:off x="9144000" y="4105656"/>
            <a:ext cx="2496312" cy="868680"/>
          </a:xfrm>
          <a:prstGeom prst="roundRect">
            <a:avLst>
              <a:gd name="adj" fmla="val 12632"/>
            </a:avLst>
          </a:prstGeom>
          <a:solidFill>
            <a:schemeClr val="tx2"/>
          </a:solidFill>
          <a:ln w="12700">
            <a:solidFill>
              <a:srgbClr val="222B3A"/>
            </a:solidFill>
            <a:prstDash val="solid"/>
          </a:ln>
        </p:spPr>
      </p:sp>
      <p:sp>
        <p:nvSpPr>
          <p:cNvPr id="34" name="Text 32"/>
          <p:cNvSpPr txBox="1"/>
          <p:nvPr/>
        </p:nvSpPr>
        <p:spPr>
          <a:xfrm>
            <a:off x="9326880" y="4197096"/>
            <a:ext cx="2240280" cy="731520"/>
          </a:xfrm>
          <a:prstGeom prst="rect">
            <a:avLst/>
          </a:prstGeom>
          <a:noFill/>
          <a:ln/>
        </p:spPr>
        <p:txBody>
          <a:bodyPr wrap="square" lIns="0" tIns="0" rIns="0" bIns="0" rtlCol="0" anchor="t"/>
          <a:lstStyle/>
          <a:p>
            <a:pPr indent="0" marL="0">
              <a:buNone/>
            </a:pPr>
            <a:r>
              <a:rPr lang="en-US" sz="1500" b="1" dirty="0">
                <a:solidFill>
                  <a:schemeClr val="bg1"/>
                </a:solidFill>
              </a:rPr>
              <a:t>Landing page</a:t>
            </a:r>
            <a:endParaRPr lang="en-US" sz="1500" dirty="0"/>
          </a:p>
          <a:p>
            <a:pPr indent="0" marL="0">
              <a:buNone/>
            </a:pPr>
            <a:r>
              <a:rPr lang="en-US" sz="1300" dirty="0">
                <a:solidFill>
                  <a:schemeClr val="bg2"/>
                </a:solidFill>
              </a:rPr>
              <a:t>GSAP animations</a:t>
            </a:r>
            <a:endParaRPr lang="en-US" sz="1500" dirty="0"/>
          </a:p>
        </p:txBody>
      </p:sp>
      <p:sp>
        <p:nvSpPr>
          <p:cNvPr id="35" name="Core to Landing page"/>
          <p:cNvSpPr/>
          <p:nvPr/>
        </p:nvSpPr>
        <p:spPr>
          <a:xfrm>
            <a:off x="8458200" y="4535424"/>
            <a:ext cx="640080" cy="914"/>
          </a:xfrm>
          <a:prstGeom prst="line">
            <a:avLst/>
          </a:prstGeom>
          <a:noFill/>
          <a:ln w="22225">
            <a:solidFill>
              <a:srgbClr val="E0B04A"/>
            </a:solidFill>
            <a:prstDash val="solid"/>
            <a:tailEnd type="triangle"/>
          </a:ln>
        </p:spPr>
      </p:sp>
      <p:sp>
        <p:nvSpPr>
          <p:cNvPr id="36" name="Bhavcopy to ingest"/>
          <p:cNvSpPr/>
          <p:nvPr/>
        </p:nvSpPr>
        <p:spPr>
          <a:xfrm>
            <a:off x="2697480" y="2697480"/>
            <a:ext cx="320040" cy="914"/>
          </a:xfrm>
          <a:prstGeom prst="line">
            <a:avLst/>
          </a:prstGeom>
          <a:noFill/>
          <a:ln w="22225">
            <a:solidFill>
              <a:srgbClr val="E0B04A"/>
            </a:solidFill>
            <a:prstDash val="solid"/>
            <a:tailEnd type="triangle"/>
          </a:ln>
        </p:spPr>
      </p:sp>
      <p:sp>
        <p:nvSpPr>
          <p:cNvPr id="37" name="Upstox to ingest"/>
          <p:cNvSpPr/>
          <p:nvPr/>
        </p:nvSpPr>
        <p:spPr>
          <a:xfrm>
            <a:off x="2697480" y="4297680"/>
            <a:ext cx="320040" cy="914"/>
          </a:xfrm>
          <a:prstGeom prst="line">
            <a:avLst/>
          </a:prstGeom>
          <a:noFill/>
          <a:ln w="22225">
            <a:solidFill>
              <a:srgbClr val="E0B04A"/>
            </a:solidFill>
            <a:prstDash val="solid"/>
            <a:tailEnd type="triangle"/>
          </a:ln>
        </p:spPr>
      </p:sp>
      <p:sp>
        <p:nvSpPr>
          <p:cNvPr id="38" name="Ingest to core"/>
          <p:cNvSpPr/>
          <p:nvPr/>
        </p:nvSpPr>
        <p:spPr>
          <a:xfrm>
            <a:off x="5212080" y="3493008"/>
            <a:ext cx="320040" cy="914"/>
          </a:xfrm>
          <a:prstGeom prst="line">
            <a:avLst/>
          </a:prstGeom>
          <a:noFill/>
          <a:ln w="22225">
            <a:solidFill>
              <a:srgbClr val="E0B04A"/>
            </a:solidFill>
            <a:prstDash val="solid"/>
            <a:tailEnd type="triangle"/>
          </a:ln>
        </p:spPr>
      </p:sp>
      <p:sp>
        <p:nvSpPr>
          <p:cNvPr id="39" name="AI reads core facts"/>
          <p:cNvSpPr/>
          <p:nvPr/>
        </p:nvSpPr>
        <p:spPr>
          <a:xfrm flipV="1">
            <a:off x="6995160" y="4983480"/>
            <a:ext cx="914" cy="246888"/>
          </a:xfrm>
          <a:prstGeom prst="line">
            <a:avLst/>
          </a:prstGeom>
          <a:noFill/>
          <a:ln w="22225">
            <a:solidFill>
              <a:srgbClr val="E0B04A"/>
            </a:solidFill>
            <a:prstDash val="solid"/>
            <a:tailEnd type="triangle"/>
          </a:ln>
        </p:spPr>
      </p:sp>
      <p:sp>
        <p:nvSpPr>
          <p:cNvPr id="40" name="Tests box"/>
          <p:cNvSpPr/>
          <p:nvPr/>
        </p:nvSpPr>
        <p:spPr>
          <a:xfrm>
            <a:off x="9144000" y="5257800"/>
            <a:ext cx="2496312" cy="868680"/>
          </a:xfrm>
          <a:prstGeom prst="roundRect">
            <a:avLst>
              <a:gd name="adj" fmla="val 12632"/>
            </a:avLst>
          </a:prstGeom>
          <a:solidFill>
            <a:schemeClr val="tx2"/>
          </a:solidFill>
          <a:ln w="12700">
            <a:solidFill>
              <a:srgbClr val="222B3A"/>
            </a:solidFill>
            <a:prstDash val="solid"/>
          </a:ln>
        </p:spPr>
      </p:sp>
      <p:sp>
        <p:nvSpPr>
          <p:cNvPr id="41" name="Text 39"/>
          <p:cNvSpPr txBox="1"/>
          <p:nvPr/>
        </p:nvSpPr>
        <p:spPr>
          <a:xfrm>
            <a:off x="9326880" y="5349240"/>
            <a:ext cx="2240280" cy="731520"/>
          </a:xfrm>
          <a:prstGeom prst="rect">
            <a:avLst/>
          </a:prstGeom>
          <a:noFill/>
          <a:ln/>
        </p:spPr>
        <p:txBody>
          <a:bodyPr wrap="square" lIns="0" tIns="0" rIns="0" bIns="0" rtlCol="0" anchor="t"/>
          <a:lstStyle/>
          <a:p>
            <a:pPr indent="0" marL="0">
              <a:buNone/>
            </a:pPr>
            <a:r>
              <a:rPr lang="en-US" sz="1500" b="1" dirty="0">
                <a:solidFill>
                  <a:schemeClr val="accent1"/>
                </a:solidFill>
              </a:rPr>
              <a:t>61 tests</a:t>
            </a:r>
            <a:endParaRPr lang="en-US" sz="1500" dirty="0"/>
          </a:p>
          <a:p>
            <a:pPr indent="0" marL="0">
              <a:buNone/>
            </a:pPr>
            <a:r>
              <a:rPr lang="en-US" sz="1300" dirty="0">
                <a:solidFill>
                  <a:schemeClr val="bg2"/>
                </a:solidFill>
              </a:rPr>
              <a:t>incl. no-look-ahead proof</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PROOF ON REAL DATA</a:t>
            </a: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Most backtests lie. Ours removes each lie</a:t>
            </a:r>
            <a:endParaRPr lang="en-US" sz="3200" dirty="0"/>
          </a:p>
        </p:txBody>
      </p:sp>
      <p:sp>
        <p:nvSpPr>
          <p:cNvPr id="4" name="Text 2"/>
          <p:cNvSpPr txBox="1"/>
          <p:nvPr/>
        </p:nvSpPr>
        <p:spPr>
          <a:xfrm>
            <a:off x="548640" y="1783080"/>
            <a:ext cx="3657600" cy="274320"/>
          </a:xfrm>
          <a:prstGeom prst="rect">
            <a:avLst/>
          </a:prstGeom>
          <a:noFill/>
          <a:ln/>
        </p:spPr>
        <p:txBody>
          <a:bodyPr wrap="square" lIns="0" tIns="0" rIns="0" bIns="0" rtlCol="0" anchor="t"/>
          <a:lstStyle/>
          <a:p>
            <a:pPr indent="0" marL="0">
              <a:buNone/>
            </a:pPr>
            <a:r>
              <a:rPr lang="en-US" sz="1200" b="1" spc="200" kern="0" dirty="0">
                <a:solidFill>
                  <a:schemeClr val="bg2"/>
                </a:solidFill>
              </a:rPr>
              <a:t>PAPER PROFIT</a:t>
            </a:r>
            <a:endParaRPr lang="en-US" sz="1200" dirty="0"/>
          </a:p>
        </p:txBody>
      </p:sp>
      <p:sp>
        <p:nvSpPr>
          <p:cNvPr id="5" name="Text 3"/>
          <p:cNvSpPr txBox="1"/>
          <p:nvPr/>
        </p:nvSpPr>
        <p:spPr>
          <a:xfrm>
            <a:off x="548640" y="2057400"/>
            <a:ext cx="3749040" cy="685800"/>
          </a:xfrm>
          <a:prstGeom prst="rect">
            <a:avLst/>
          </a:prstGeom>
          <a:noFill/>
          <a:ln/>
        </p:spPr>
        <p:txBody>
          <a:bodyPr wrap="square" lIns="0" tIns="0" rIns="0" bIns="0" rtlCol="0" anchor="t"/>
          <a:lstStyle/>
          <a:p>
            <a:pPr indent="0" marL="0">
              <a:buNone/>
            </a:pPr>
            <a:r>
              <a:rPr lang="en-US" sz="4000" b="1" dirty="0">
                <a:solidFill>
                  <a:schemeClr val="accent1"/>
                </a:solidFill>
                <a:latin typeface="Arial" pitchFamily="34" charset="0"/>
                <a:ea typeface="Arial" pitchFamily="34" charset="-122"/>
                <a:cs typeface="Arial" pitchFamily="34" charset="-120"/>
              </a:rPr>
              <a:t>₹25.75 lakh</a:t>
            </a:r>
            <a:endParaRPr lang="en-US" sz="4000" dirty="0"/>
          </a:p>
        </p:txBody>
      </p:sp>
      <p:sp>
        <p:nvSpPr>
          <p:cNvPr id="6" name="Text 4"/>
          <p:cNvSpPr txBox="1"/>
          <p:nvPr/>
        </p:nvSpPr>
        <p:spPr>
          <a:xfrm>
            <a:off x="548640" y="2743200"/>
            <a:ext cx="3657600" cy="320040"/>
          </a:xfrm>
          <a:prstGeom prst="rect">
            <a:avLst/>
          </a:prstGeom>
          <a:noFill/>
          <a:ln/>
        </p:spPr>
        <p:txBody>
          <a:bodyPr wrap="square" lIns="0" tIns="0" rIns="0" bIns="0" rtlCol="0" anchor="t"/>
          <a:lstStyle/>
          <a:p>
            <a:pPr indent="0" marL="0">
              <a:buNone/>
            </a:pPr>
            <a:r>
              <a:rPr lang="en-US" sz="1400" dirty="0">
                <a:solidFill>
                  <a:schemeClr val="bg2"/>
                </a:solidFill>
              </a:rPr>
              <a:t>Stitched prices, look-ahead, no costs</a:t>
            </a:r>
            <a:endParaRPr lang="en-US" sz="1400" dirty="0"/>
          </a:p>
        </p:txBody>
      </p:sp>
      <p:pic>
        <p:nvPicPr>
          <p:cNvPr id="7" name="Down arrow" descr="preencoded.png">    </p:cNvPr>
          <p:cNvPicPr>
            <a:picLocks noChangeAspect="1"/>
          </p:cNvPicPr>
          <p:nvPr/>
        </p:nvPicPr>
        <p:blipFill>
          <a:blip r:embed="rId1"/>
          <a:stretch>
            <a:fillRect/>
          </a:stretch>
        </p:blipFill>
        <p:spPr>
          <a:xfrm>
            <a:off x="566928" y="3291840"/>
            <a:ext cx="365760" cy="365760"/>
          </a:xfrm>
          <a:prstGeom prst="rect">
            <a:avLst/>
          </a:prstGeom>
        </p:spPr>
      </p:pic>
      <p:sp>
        <p:nvSpPr>
          <p:cNvPr id="8" name="Text 5"/>
          <p:cNvSpPr txBox="1"/>
          <p:nvPr/>
        </p:nvSpPr>
        <p:spPr>
          <a:xfrm>
            <a:off x="548640" y="3886200"/>
            <a:ext cx="3657600" cy="274320"/>
          </a:xfrm>
          <a:prstGeom prst="rect">
            <a:avLst/>
          </a:prstGeom>
          <a:noFill/>
          <a:ln/>
        </p:spPr>
        <p:txBody>
          <a:bodyPr wrap="square" lIns="0" tIns="0" rIns="0" bIns="0" rtlCol="0" anchor="t"/>
          <a:lstStyle/>
          <a:p>
            <a:pPr indent="0" marL="0">
              <a:buNone/>
            </a:pPr>
            <a:r>
              <a:rPr lang="en-US" sz="1200" b="1" spc="200" kern="0" dirty="0">
                <a:solidFill>
                  <a:schemeClr val="bg2"/>
                </a:solidFill>
              </a:rPr>
              <a:t>HONEST RESULT</a:t>
            </a:r>
            <a:endParaRPr lang="en-US" sz="1200" dirty="0"/>
          </a:p>
        </p:txBody>
      </p:sp>
      <p:sp>
        <p:nvSpPr>
          <p:cNvPr id="9" name="Text 6"/>
          <p:cNvSpPr txBox="1"/>
          <p:nvPr/>
        </p:nvSpPr>
        <p:spPr>
          <a:xfrm>
            <a:off x="548640" y="4160520"/>
            <a:ext cx="3749040" cy="868680"/>
          </a:xfrm>
          <a:prstGeom prst="rect">
            <a:avLst/>
          </a:prstGeom>
          <a:noFill/>
          <a:ln/>
        </p:spPr>
        <p:txBody>
          <a:bodyPr wrap="square" lIns="0" tIns="0" rIns="0" bIns="0" rtlCol="0" anchor="t"/>
          <a:lstStyle/>
          <a:p>
            <a:pPr indent="0" marL="0">
              <a:buNone/>
            </a:pPr>
            <a:r>
              <a:rPr lang="en-US" sz="5400" b="1" dirty="0">
                <a:solidFill>
                  <a:schemeClr val="accent6"/>
                </a:solidFill>
                <a:latin typeface="Arial" pitchFamily="34" charset="0"/>
                <a:ea typeface="Arial" pitchFamily="34" charset="-122"/>
                <a:cs typeface="Arial" pitchFamily="34" charset="-120"/>
              </a:rPr>
              <a:t>−₹3,493</a:t>
            </a:r>
            <a:endParaRPr lang="en-US" sz="5400" dirty="0"/>
          </a:p>
        </p:txBody>
      </p:sp>
      <p:sp>
        <p:nvSpPr>
          <p:cNvPr id="10" name="Text 7"/>
          <p:cNvSpPr txBox="1"/>
          <p:nvPr/>
        </p:nvSpPr>
        <p:spPr>
          <a:xfrm>
            <a:off x="548640" y="5074920"/>
            <a:ext cx="3657600" cy="320040"/>
          </a:xfrm>
          <a:prstGeom prst="rect">
            <a:avLst/>
          </a:prstGeom>
          <a:noFill/>
          <a:ln/>
        </p:spPr>
        <p:txBody>
          <a:bodyPr wrap="square" lIns="0" tIns="0" rIns="0" bIns="0" rtlCol="0" anchor="t"/>
          <a:lstStyle/>
          <a:p>
            <a:pPr indent="0" marL="0">
              <a:buNone/>
            </a:pPr>
            <a:r>
              <a:rPr lang="en-US" sz="1400" dirty="0">
                <a:solidFill>
                  <a:schemeClr val="bg2"/>
                </a:solidFill>
              </a:rPr>
              <a:t>181 trades · ₹2.57 lakh in real costs</a:t>
            </a:r>
            <a:endParaRPr lang="en-US" sz="1400" dirty="0"/>
          </a:p>
        </p:txBody>
      </p:sp>
      <p:sp>
        <p:nvSpPr>
          <p:cNvPr id="11" name="Ladder panel"/>
          <p:cNvSpPr/>
          <p:nvPr/>
        </p:nvSpPr>
        <p:spPr>
          <a:xfrm>
            <a:off x="4572000" y="1645920"/>
            <a:ext cx="7068312" cy="3749040"/>
          </a:xfrm>
          <a:prstGeom prst="roundRect">
            <a:avLst>
              <a:gd name="adj" fmla="val 2927"/>
            </a:avLst>
          </a:prstGeom>
          <a:solidFill>
            <a:schemeClr val="tx2"/>
          </a:solidFill>
          <a:ln w="12700">
            <a:solidFill>
              <a:srgbClr val="222B3A"/>
            </a:solidFill>
            <a:prstDash val="solid"/>
          </a:ln>
        </p:spPr>
      </p:sp>
      <p:graphicFrame>
        <p:nvGraphicFramePr>
          <p:cNvPr id="12" name="Honesty ladder chart" descr=""/>
          <p:cNvGraphicFramePr/>
          <p:nvPr/>
        </p:nvGraphicFramePr>
        <p:xfrm>
          <a:off x="4709160" y="1737360"/>
          <a:ext cx="6812280" cy="3566160"/>
        </p:xfrm>
        <a:graphic xmlns:a="http://schemas.openxmlformats.org/drawingml/2006/main">
          <a:graphicData uri="http://schemas.openxmlformats.org/drawingml/2006/chart">
            <c:chart xmlns:c="http://schemas.openxmlformats.org/drawingml/2006/chart" r:id="rId2"/>
          </a:graphicData>
        </a:graphic>
      </p:graphicFrame>
      <p:sp>
        <p:nvSpPr>
          <p:cNvPr id="13" name="Attribution strip"/>
          <p:cNvSpPr/>
          <p:nvPr/>
        </p:nvSpPr>
        <p:spPr>
          <a:xfrm>
            <a:off x="548640" y="5532120"/>
            <a:ext cx="5440680" cy="658368"/>
          </a:xfrm>
          <a:prstGeom prst="roundRect">
            <a:avLst>
              <a:gd name="adj" fmla="val 16667"/>
            </a:avLst>
          </a:prstGeom>
          <a:solidFill>
            <a:schemeClr val="tx2"/>
          </a:solidFill>
          <a:ln w="12700">
            <a:solidFill>
              <a:srgbClr val="222B3A"/>
            </a:solidFill>
            <a:prstDash val="solid"/>
          </a:ln>
        </p:spPr>
      </p:sp>
      <p:pic>
        <p:nvPicPr>
          <p:cNvPr id="14" name="Gold exposure icon" descr="preencoded.png">    </p:cNvPr>
          <p:cNvPicPr>
            <a:picLocks noChangeAspect="1"/>
          </p:cNvPicPr>
          <p:nvPr/>
        </p:nvPicPr>
        <p:blipFill>
          <a:blip r:embed="rId3"/>
          <a:stretch>
            <a:fillRect/>
          </a:stretch>
        </p:blipFill>
        <p:spPr>
          <a:xfrm>
            <a:off x="731520" y="5705856"/>
            <a:ext cx="310896" cy="310896"/>
          </a:xfrm>
          <a:prstGeom prst="rect">
            <a:avLst/>
          </a:prstGeom>
        </p:spPr>
      </p:pic>
      <p:sp>
        <p:nvSpPr>
          <p:cNvPr id="15" name="Text 10"/>
          <p:cNvSpPr txBox="1"/>
          <p:nvPr/>
        </p:nvSpPr>
        <p:spPr>
          <a:xfrm>
            <a:off x="1188720" y="5532120"/>
            <a:ext cx="4709160" cy="658368"/>
          </a:xfrm>
          <a:prstGeom prst="rect">
            <a:avLst/>
          </a:prstGeom>
          <a:noFill/>
          <a:ln/>
        </p:spPr>
        <p:txBody>
          <a:bodyPr wrap="square" lIns="0" tIns="0" rIns="0" bIns="0" rtlCol="0" anchor="ctr"/>
          <a:lstStyle/>
          <a:p>
            <a:pPr indent="0" marL="0">
              <a:buNone/>
            </a:pPr>
            <a:r>
              <a:rPr lang="en-US" sz="1400" b="1" dirty="0">
                <a:solidFill>
                  <a:schemeClr val="bg1"/>
                </a:solidFill>
              </a:rPr>
              <a:t>Hidden gold bet: </a:t>
            </a:r>
            <a:pPr indent="0" marL="0">
              <a:buNone/>
            </a:pPr>
            <a:r>
              <a:rPr lang="en-US" sz="1400" dirty="0">
                <a:solidFill>
                  <a:schemeClr val="bg2"/>
                </a:solidFill>
              </a:rPr>
              <a:t>186 g → 13 g of gold exposure</a:t>
            </a:r>
            <a:endParaRPr lang="en-US" sz="1400" dirty="0"/>
          </a:p>
        </p:txBody>
      </p:sp>
      <p:sp>
        <p:nvSpPr>
          <p:cNvPr id="16" name="Best pair strip"/>
          <p:cNvSpPr/>
          <p:nvPr/>
        </p:nvSpPr>
        <p:spPr>
          <a:xfrm>
            <a:off x="6199632" y="5532120"/>
            <a:ext cx="5440680" cy="658368"/>
          </a:xfrm>
          <a:prstGeom prst="roundRect">
            <a:avLst>
              <a:gd name="adj" fmla="val 16667"/>
            </a:avLst>
          </a:prstGeom>
          <a:solidFill>
            <a:schemeClr val="tx2"/>
          </a:solidFill>
          <a:ln w="12700">
            <a:solidFill>
              <a:srgbClr val="222B3A"/>
            </a:solidFill>
            <a:prstDash val="solid"/>
          </a:ln>
        </p:spPr>
      </p:sp>
      <p:pic>
        <p:nvPicPr>
          <p:cNvPr id="17" name="Best pair icon" descr="preencoded.png">    </p:cNvPr>
          <p:cNvPicPr>
            <a:picLocks noChangeAspect="1"/>
          </p:cNvPicPr>
          <p:nvPr/>
        </p:nvPicPr>
        <p:blipFill>
          <a:blip r:embed="rId4"/>
          <a:stretch>
            <a:fillRect/>
          </a:stretch>
        </p:blipFill>
        <p:spPr>
          <a:xfrm>
            <a:off x="6382512" y="5705856"/>
            <a:ext cx="310896" cy="310896"/>
          </a:xfrm>
          <a:prstGeom prst="rect">
            <a:avLst/>
          </a:prstGeom>
        </p:spPr>
      </p:pic>
      <p:sp>
        <p:nvSpPr>
          <p:cNvPr id="18" name="Text 12"/>
          <p:cNvSpPr txBox="1"/>
          <p:nvPr/>
        </p:nvSpPr>
        <p:spPr>
          <a:xfrm>
            <a:off x="6839712" y="5532120"/>
            <a:ext cx="4709160" cy="658368"/>
          </a:xfrm>
          <a:prstGeom prst="rect">
            <a:avLst/>
          </a:prstGeom>
          <a:noFill/>
          <a:ln/>
        </p:spPr>
        <p:txBody>
          <a:bodyPr wrap="square" lIns="0" tIns="0" rIns="0" bIns="0" rtlCol="0" anchor="ctr"/>
          <a:lstStyle/>
          <a:p>
            <a:pPr indent="0" marL="0">
              <a:buNone/>
            </a:pPr>
            <a:r>
              <a:rPr lang="en-US" sz="1400" b="1" dirty="0">
                <a:solidFill>
                  <a:schemeClr val="bg1"/>
                </a:solidFill>
              </a:rPr>
              <a:t>Real edge found: </a:t>
            </a:r>
            <a:pPr indent="0" marL="0">
              <a:buNone/>
            </a:pPr>
            <a:r>
              <a:rPr lang="en-US" sz="1400" dirty="0">
                <a:solidFill>
                  <a:schemeClr val="bg2"/>
                </a:solidFill>
              </a:rPr>
              <a:t>GOLDTEN/GUINEA +₹1.39 lakh, 74% wins</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FEATURES AND PROGRESS</a:t>
            </a:r>
            <a:endParaRPr lang="en-US" sz="1300" dirty="0"/>
          </a:p>
        </p:txBody>
      </p:sp>
      <p:sp>
        <p:nvSpPr>
          <p:cNvPr id="3" name="Text 0"/>
          <p:cNvSpPr/>
          <p:nvPr>
            <p:ph idx="101" type="title" hasCustomPrompt="1"/>
          </p:nvPr>
        </p:nvSpPr>
        <p:spPr>
          <a:xfrm>
            <a:off x="548640" y="713232"/>
            <a:ext cx="11091672" cy="731520"/>
          </a:xfrm>
          <a:prstGeom prst="rect">
            <a:avLst/>
          </a:prstGeom>
          <a:noFill/>
          <a:ln/>
        </p:spPr>
        <p:txBody>
          <a:bodyPr wrap="square" lIns="0" tIns="0" rIns="0" bIns="0" rtlCol="0" anchor="t"/>
          <a:lstStyle/>
          <a:p>
            <a:pPr algn="l" indent="0" marL="0">
              <a:buNone/>
            </a:pPr>
            <a:r>
              <a:rPr lang="en-US" sz="3200" b="1" dirty="0">
                <a:solidFill>
                  <a:schemeClr val="bg1"/>
                </a:solidFill>
              </a:rPr>
              <a:t>Working today, end to end, on real MCX data</a:t>
            </a:r>
            <a:endParaRPr lang="en-US" sz="3200" dirty="0"/>
          </a:p>
        </p:txBody>
      </p:sp>
      <p:pic>
        <p:nvPicPr>
          <p:cNvPr id="4" name="Tip Checker screenshot" descr="Tip Checker result: a 40% guaranteed tip tested honestly returns -1.7% a year and is marked busted">    </p:cNvPr>
          <p:cNvPicPr>
            <a:picLocks noChangeAspect="1"/>
          </p:cNvPicPr>
          <p:nvPr/>
        </p:nvPicPr>
        <p:blipFill>
          <a:blip r:embed="rId1"/>
          <a:stretch>
            <a:fillRect/>
          </a:stretch>
        </p:blipFill>
        <p:spPr>
          <a:xfrm>
            <a:off x="548640" y="1691640"/>
            <a:ext cx="4343400" cy="3236976"/>
          </a:xfrm>
          <a:prstGeom prst="rect">
            <a:avLst/>
          </a:prstGeom>
        </p:spPr>
      </p:pic>
      <p:pic>
        <p:nvPicPr>
          <p:cNvPr id="5" name="Telegram morning brief screenshot" descr="GoldLens Telegram morning brief on a phone">    </p:cNvPr>
          <p:cNvPicPr>
            <a:picLocks noChangeAspect="1"/>
          </p:cNvPicPr>
          <p:nvPr/>
        </p:nvPicPr>
        <p:blipFill>
          <a:blip r:embed="rId2"/>
          <a:stretch>
            <a:fillRect/>
          </a:stretch>
        </p:blipFill>
        <p:spPr>
          <a:xfrm>
            <a:off x="5074920" y="1691640"/>
            <a:ext cx="1920240" cy="3236976"/>
          </a:xfrm>
          <a:prstGeom prst="rect">
            <a:avLst/>
          </a:prstGeom>
        </p:spPr>
      </p:pic>
      <p:sp>
        <p:nvSpPr>
          <p:cNvPr id="6" name="Text 2"/>
          <p:cNvSpPr txBox="1"/>
          <p:nvPr/>
        </p:nvSpPr>
        <p:spPr>
          <a:xfrm>
            <a:off x="548640" y="5029200"/>
            <a:ext cx="4343400" cy="320040"/>
          </a:xfrm>
          <a:prstGeom prst="rect">
            <a:avLst/>
          </a:prstGeom>
          <a:noFill/>
          <a:ln/>
        </p:spPr>
        <p:txBody>
          <a:bodyPr wrap="square" lIns="0" tIns="0" rIns="0" bIns="0" rtlCol="0" anchor="t"/>
          <a:lstStyle/>
          <a:p>
            <a:pPr indent="0" marL="0">
              <a:buNone/>
            </a:pPr>
            <a:r>
              <a:rPr lang="en-US" sz="1400" b="1" dirty="0">
                <a:solidFill>
                  <a:schemeClr val="bg1"/>
                </a:solidFill>
              </a:rPr>
              <a:t>Tip Checker  </a:t>
            </a:r>
            <a:pPr indent="0" marL="0">
              <a:buNone/>
            </a:pPr>
            <a:r>
              <a:rPr lang="en-US" sz="1400" dirty="0">
                <a:solidFill>
                  <a:schemeClr val="bg2"/>
                </a:solidFill>
              </a:rPr>
              <a:t>"40% guaranteed" → honest −1.7%</a:t>
            </a:r>
            <a:endParaRPr lang="en-US" sz="1400" dirty="0"/>
          </a:p>
        </p:txBody>
      </p:sp>
      <p:sp>
        <p:nvSpPr>
          <p:cNvPr id="7" name="Text 3"/>
          <p:cNvSpPr txBox="1"/>
          <p:nvPr/>
        </p:nvSpPr>
        <p:spPr>
          <a:xfrm>
            <a:off x="5074920" y="5029200"/>
            <a:ext cx="2194560" cy="320040"/>
          </a:xfrm>
          <a:prstGeom prst="rect">
            <a:avLst/>
          </a:prstGeom>
          <a:noFill/>
          <a:ln/>
        </p:spPr>
        <p:txBody>
          <a:bodyPr wrap="square" lIns="0" tIns="0" rIns="0" bIns="0" rtlCol="0" anchor="t"/>
          <a:lstStyle/>
          <a:p>
            <a:pPr indent="0" marL="0">
              <a:buNone/>
            </a:pPr>
            <a:r>
              <a:rPr lang="en-US" sz="1400" b="1" dirty="0">
                <a:solidFill>
                  <a:schemeClr val="bg1"/>
                </a:solidFill>
              </a:rPr>
              <a:t>Morning brief  </a:t>
            </a:r>
            <a:pPr indent="0" marL="0">
              <a:buNone/>
            </a:pPr>
            <a:r>
              <a:rPr lang="en-US" sz="1400" dirty="0">
                <a:solidFill>
                  <a:schemeClr val="bg2"/>
                </a:solidFill>
              </a:rPr>
              <a:t>English · हिंदी</a:t>
            </a:r>
            <a:endParaRPr lang="en-US" sz="1400" dirty="0"/>
          </a:p>
        </p:txBody>
      </p:sp>
      <p:sp>
        <p:nvSpPr>
          <p:cNvPr id="8" name="Text 4"/>
          <p:cNvSpPr txBox="1"/>
          <p:nvPr/>
        </p:nvSpPr>
        <p:spPr>
          <a:xfrm>
            <a:off x="548640" y="5715000"/>
            <a:ext cx="6492240" cy="411480"/>
          </a:xfrm>
          <a:prstGeom prst="rect">
            <a:avLst/>
          </a:prstGeom>
          <a:noFill/>
          <a:ln/>
        </p:spPr>
        <p:txBody>
          <a:bodyPr wrap="square" lIns="0" tIns="0" rIns="0" bIns="0" rtlCol="0" anchor="t"/>
          <a:lstStyle/>
          <a:p>
            <a:pPr indent="0" marL="0">
              <a:buNone/>
            </a:pPr>
            <a:r>
              <a:rPr lang="en-US" sz="2000" b="1" dirty="0">
                <a:solidFill>
                  <a:schemeClr val="accent1"/>
                </a:solidFill>
              </a:rPr>
              <a:t>GoldLens. Honest intelligence for gold traders.</a:t>
            </a:r>
            <a:endParaRPr lang="en-US" sz="2000" dirty="0"/>
          </a:p>
        </p:txBody>
      </p:sp>
      <p:sp>
        <p:nvSpPr>
          <p:cNvPr id="9" name="Progress panel"/>
          <p:cNvSpPr/>
          <p:nvPr/>
        </p:nvSpPr>
        <p:spPr>
          <a:xfrm>
            <a:off x="7315200" y="1691640"/>
            <a:ext cx="4325112" cy="4480560"/>
          </a:xfrm>
          <a:prstGeom prst="roundRect">
            <a:avLst>
              <a:gd name="adj" fmla="val 2537"/>
            </a:avLst>
          </a:prstGeom>
          <a:solidFill>
            <a:schemeClr val="tx2"/>
          </a:solidFill>
          <a:ln w="12700">
            <a:solidFill>
              <a:srgbClr val="222B3A"/>
            </a:solidFill>
            <a:prstDash val="solid"/>
          </a:ln>
        </p:spPr>
      </p:sp>
      <p:sp>
        <p:nvSpPr>
          <p:cNvPr id="10" name="Text 6"/>
          <p:cNvSpPr txBox="1"/>
          <p:nvPr/>
        </p:nvSpPr>
        <p:spPr>
          <a:xfrm>
            <a:off x="7516368" y="1828800"/>
            <a:ext cx="18288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PROGRESS</a:t>
            </a:r>
            <a:endParaRPr lang="en-US" sz="1200" dirty="0"/>
          </a:p>
        </p:txBody>
      </p:sp>
      <p:sp>
        <p:nvSpPr>
          <p:cNvPr id="11" name="Text 7"/>
          <p:cNvSpPr txBox="1"/>
          <p:nvPr/>
        </p:nvSpPr>
        <p:spPr>
          <a:xfrm>
            <a:off x="9509760" y="1828800"/>
            <a:ext cx="1965960" cy="274320"/>
          </a:xfrm>
          <a:prstGeom prst="rect">
            <a:avLst/>
          </a:prstGeom>
          <a:noFill/>
          <a:ln/>
        </p:spPr>
        <p:txBody>
          <a:bodyPr wrap="square" lIns="0" tIns="0" rIns="0" bIns="0" rtlCol="0" anchor="t"/>
          <a:lstStyle/>
          <a:p>
            <a:pPr algn="r" indent="0" marL="0">
              <a:buNone/>
            </a:pPr>
            <a:r>
              <a:rPr lang="en-US" sz="1200" b="1" dirty="0">
                <a:solidFill>
                  <a:schemeClr val="accent4"/>
                </a:solidFill>
              </a:rPr>
              <a:t>8 / 9 shipped</a:t>
            </a:r>
            <a:endParaRPr lang="en-US" sz="1200" dirty="0"/>
          </a:p>
        </p:txBody>
      </p:sp>
      <p:sp>
        <p:nvSpPr>
          <p:cNvPr id="12" name="Progress track"/>
          <p:cNvSpPr/>
          <p:nvPr/>
        </p:nvSpPr>
        <p:spPr>
          <a:xfrm>
            <a:off x="7516368" y="2212848"/>
            <a:ext cx="3959352" cy="73152"/>
          </a:xfrm>
          <a:prstGeom prst="rect">
            <a:avLst/>
          </a:prstGeom>
          <a:solidFill>
            <a:srgbClr val="222B3A"/>
          </a:solidFill>
          <a:ln/>
        </p:spPr>
      </p:sp>
      <p:sp>
        <p:nvSpPr>
          <p:cNvPr id="13" name="Progress fill"/>
          <p:cNvSpPr/>
          <p:nvPr/>
        </p:nvSpPr>
        <p:spPr>
          <a:xfrm>
            <a:off x="7516368" y="2212848"/>
            <a:ext cx="3519424" cy="73152"/>
          </a:xfrm>
          <a:prstGeom prst="rect">
            <a:avLst/>
          </a:prstGeom>
          <a:solidFill>
            <a:srgbClr val="3CC9A7"/>
          </a:solidFill>
          <a:ln/>
        </p:spPr>
      </p:sp>
      <p:sp>
        <p:nvSpPr>
          <p:cNvPr id="14" name="Progress 1 circle"/>
          <p:cNvSpPr/>
          <p:nvPr/>
        </p:nvSpPr>
        <p:spPr>
          <a:xfrm>
            <a:off x="7516368" y="2487168"/>
            <a:ext cx="274320" cy="274320"/>
          </a:xfrm>
          <a:prstGeom prst="ellipse">
            <a:avLst/>
          </a:prstGeom>
          <a:solidFill>
            <a:srgbClr val="3CC9A7"/>
          </a:solidFill>
          <a:ln/>
        </p:spPr>
      </p:sp>
      <p:pic>
        <p:nvPicPr>
          <p:cNvPr id="15" name="Progress 1 icon" descr="preencoded.png">    </p:cNvPr>
          <p:cNvPicPr>
            <a:picLocks noChangeAspect="1"/>
          </p:cNvPicPr>
          <p:nvPr/>
        </p:nvPicPr>
        <p:blipFill>
          <a:blip r:embed="rId3"/>
          <a:stretch>
            <a:fillRect/>
          </a:stretch>
        </p:blipFill>
        <p:spPr>
          <a:xfrm>
            <a:off x="7582205" y="2553005"/>
            <a:ext cx="142646" cy="142646"/>
          </a:xfrm>
          <a:prstGeom prst="rect">
            <a:avLst/>
          </a:prstGeom>
        </p:spPr>
      </p:pic>
      <p:sp>
        <p:nvSpPr>
          <p:cNvPr id="16" name="Text 11"/>
          <p:cNvSpPr txBox="1"/>
          <p:nvPr/>
        </p:nvSpPr>
        <p:spPr>
          <a:xfrm>
            <a:off x="7909560" y="2450592"/>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Data pipeline</a:t>
            </a:r>
            <a:endParaRPr lang="en-US" sz="1400" dirty="0"/>
          </a:p>
        </p:txBody>
      </p:sp>
      <p:sp>
        <p:nvSpPr>
          <p:cNvPr id="17" name="Text 12"/>
          <p:cNvSpPr txBox="1"/>
          <p:nvPr/>
        </p:nvSpPr>
        <p:spPr>
          <a:xfrm>
            <a:off x="10104120" y="2450592"/>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973 days</a:t>
            </a:r>
            <a:endParaRPr lang="en-US" sz="1200" dirty="0"/>
          </a:p>
        </p:txBody>
      </p:sp>
      <p:sp>
        <p:nvSpPr>
          <p:cNvPr id="18" name="Progress 2 circle"/>
          <p:cNvSpPr/>
          <p:nvPr/>
        </p:nvSpPr>
        <p:spPr>
          <a:xfrm>
            <a:off x="7516368" y="2889504"/>
            <a:ext cx="274320" cy="274320"/>
          </a:xfrm>
          <a:prstGeom prst="ellipse">
            <a:avLst/>
          </a:prstGeom>
          <a:solidFill>
            <a:srgbClr val="3CC9A7"/>
          </a:solidFill>
          <a:ln/>
        </p:spPr>
      </p:sp>
      <p:pic>
        <p:nvPicPr>
          <p:cNvPr id="19" name="Progress 2 icon" descr="preencoded.png">    </p:cNvPr>
          <p:cNvPicPr>
            <a:picLocks noChangeAspect="1"/>
          </p:cNvPicPr>
          <p:nvPr/>
        </p:nvPicPr>
        <p:blipFill>
          <a:blip r:embed="rId4"/>
          <a:stretch>
            <a:fillRect/>
          </a:stretch>
        </p:blipFill>
        <p:spPr>
          <a:xfrm>
            <a:off x="7582205" y="2955341"/>
            <a:ext cx="142646" cy="142646"/>
          </a:xfrm>
          <a:prstGeom prst="rect">
            <a:avLst/>
          </a:prstGeom>
        </p:spPr>
      </p:pic>
      <p:sp>
        <p:nvSpPr>
          <p:cNvPr id="20" name="Text 14"/>
          <p:cNvSpPr txBox="1"/>
          <p:nvPr/>
        </p:nvSpPr>
        <p:spPr>
          <a:xfrm>
            <a:off x="7909560" y="2852928"/>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One-scale normalisation</a:t>
            </a:r>
            <a:endParaRPr lang="en-US" sz="1400" dirty="0"/>
          </a:p>
        </p:txBody>
      </p:sp>
      <p:sp>
        <p:nvSpPr>
          <p:cNvPr id="21" name="Text 15"/>
          <p:cNvSpPr txBox="1"/>
          <p:nvPr/>
        </p:nvSpPr>
        <p:spPr>
          <a:xfrm>
            <a:off x="10104120" y="2852928"/>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4 contracts</a:t>
            </a:r>
            <a:endParaRPr lang="en-US" sz="1200" dirty="0"/>
          </a:p>
        </p:txBody>
      </p:sp>
      <p:sp>
        <p:nvSpPr>
          <p:cNvPr id="22" name="Progress 3 circle"/>
          <p:cNvSpPr/>
          <p:nvPr/>
        </p:nvSpPr>
        <p:spPr>
          <a:xfrm>
            <a:off x="7516368" y="3291840"/>
            <a:ext cx="274320" cy="274320"/>
          </a:xfrm>
          <a:prstGeom prst="ellipse">
            <a:avLst/>
          </a:prstGeom>
          <a:solidFill>
            <a:srgbClr val="3CC9A7"/>
          </a:solidFill>
          <a:ln/>
        </p:spPr>
      </p:sp>
      <p:pic>
        <p:nvPicPr>
          <p:cNvPr id="23" name="Progress 3 icon" descr="preencoded.png">    </p:cNvPr>
          <p:cNvPicPr>
            <a:picLocks noChangeAspect="1"/>
          </p:cNvPicPr>
          <p:nvPr/>
        </p:nvPicPr>
        <p:blipFill>
          <a:blip r:embed="rId5"/>
          <a:stretch>
            <a:fillRect/>
          </a:stretch>
        </p:blipFill>
        <p:spPr>
          <a:xfrm>
            <a:off x="7582205" y="3357677"/>
            <a:ext cx="142646" cy="142646"/>
          </a:xfrm>
          <a:prstGeom prst="rect">
            <a:avLst/>
          </a:prstGeom>
        </p:spPr>
      </p:pic>
      <p:sp>
        <p:nvSpPr>
          <p:cNvPr id="24" name="Text 17"/>
          <p:cNvSpPr txBox="1"/>
          <p:nvPr/>
        </p:nvSpPr>
        <p:spPr>
          <a:xfrm>
            <a:off x="7909560" y="3255264"/>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Scanner + cost gate</a:t>
            </a:r>
            <a:endParaRPr lang="en-US" sz="1400" dirty="0"/>
          </a:p>
        </p:txBody>
      </p:sp>
      <p:sp>
        <p:nvSpPr>
          <p:cNvPr id="25" name="Text 18"/>
          <p:cNvSpPr txBox="1"/>
          <p:nvPr/>
        </p:nvSpPr>
        <p:spPr>
          <a:xfrm>
            <a:off x="10104120" y="3255264"/>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6 pairs</a:t>
            </a:r>
            <a:endParaRPr lang="en-US" sz="1200" dirty="0"/>
          </a:p>
        </p:txBody>
      </p:sp>
      <p:sp>
        <p:nvSpPr>
          <p:cNvPr id="26" name="Progress 4 circle"/>
          <p:cNvSpPr/>
          <p:nvPr/>
        </p:nvSpPr>
        <p:spPr>
          <a:xfrm>
            <a:off x="7516368" y="3694176"/>
            <a:ext cx="274320" cy="274320"/>
          </a:xfrm>
          <a:prstGeom prst="ellipse">
            <a:avLst/>
          </a:prstGeom>
          <a:solidFill>
            <a:srgbClr val="3CC9A7"/>
          </a:solidFill>
          <a:ln/>
        </p:spPr>
      </p:sp>
      <p:pic>
        <p:nvPicPr>
          <p:cNvPr id="27" name="Progress 4 icon" descr="preencoded.png">    </p:cNvPr>
          <p:cNvPicPr>
            <a:picLocks noChangeAspect="1"/>
          </p:cNvPicPr>
          <p:nvPr/>
        </p:nvPicPr>
        <p:blipFill>
          <a:blip r:embed="rId6"/>
          <a:stretch>
            <a:fillRect/>
          </a:stretch>
        </p:blipFill>
        <p:spPr>
          <a:xfrm>
            <a:off x="7582205" y="3760013"/>
            <a:ext cx="142646" cy="142646"/>
          </a:xfrm>
          <a:prstGeom prst="rect">
            <a:avLst/>
          </a:prstGeom>
        </p:spPr>
      </p:pic>
      <p:sp>
        <p:nvSpPr>
          <p:cNvPr id="28" name="Text 20"/>
          <p:cNvSpPr txBox="1"/>
          <p:nvPr/>
        </p:nvSpPr>
        <p:spPr>
          <a:xfrm>
            <a:off x="7909560" y="3657600"/>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Honest backtest</a:t>
            </a:r>
            <a:endParaRPr lang="en-US" sz="1400" dirty="0"/>
          </a:p>
        </p:txBody>
      </p:sp>
      <p:sp>
        <p:nvSpPr>
          <p:cNvPr id="29" name="Text 21"/>
          <p:cNvSpPr txBox="1"/>
          <p:nvPr/>
        </p:nvSpPr>
        <p:spPr>
          <a:xfrm>
            <a:off x="10104120" y="3657600"/>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7-step ladder</a:t>
            </a:r>
            <a:endParaRPr lang="en-US" sz="1200" dirty="0"/>
          </a:p>
        </p:txBody>
      </p:sp>
      <p:sp>
        <p:nvSpPr>
          <p:cNvPr id="30" name="Progress 5 circle"/>
          <p:cNvSpPr/>
          <p:nvPr/>
        </p:nvSpPr>
        <p:spPr>
          <a:xfrm>
            <a:off x="7516368" y="4096512"/>
            <a:ext cx="274320" cy="274320"/>
          </a:xfrm>
          <a:prstGeom prst="ellipse">
            <a:avLst/>
          </a:prstGeom>
          <a:solidFill>
            <a:srgbClr val="3CC9A7"/>
          </a:solidFill>
          <a:ln/>
        </p:spPr>
      </p:sp>
      <p:pic>
        <p:nvPicPr>
          <p:cNvPr id="31" name="Progress 5 icon" descr="preencoded.png">    </p:cNvPr>
          <p:cNvPicPr>
            <a:picLocks noChangeAspect="1"/>
          </p:cNvPicPr>
          <p:nvPr/>
        </p:nvPicPr>
        <p:blipFill>
          <a:blip r:embed="rId7"/>
          <a:stretch>
            <a:fillRect/>
          </a:stretch>
        </p:blipFill>
        <p:spPr>
          <a:xfrm>
            <a:off x="7582205" y="4162349"/>
            <a:ext cx="142646" cy="142646"/>
          </a:xfrm>
          <a:prstGeom prst="rect">
            <a:avLst/>
          </a:prstGeom>
        </p:spPr>
      </p:pic>
      <p:sp>
        <p:nvSpPr>
          <p:cNvPr id="32" name="Text 23"/>
          <p:cNvSpPr txBox="1"/>
          <p:nvPr/>
        </p:nvSpPr>
        <p:spPr>
          <a:xfrm>
            <a:off x="7909560" y="4059936"/>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Tip Checker</a:t>
            </a:r>
            <a:endParaRPr lang="en-US" sz="1400" dirty="0"/>
          </a:p>
        </p:txBody>
      </p:sp>
      <p:sp>
        <p:nvSpPr>
          <p:cNvPr id="33" name="Text 24"/>
          <p:cNvSpPr txBox="1"/>
          <p:nvPr/>
        </p:nvSpPr>
        <p:spPr>
          <a:xfrm>
            <a:off x="10104120" y="4059936"/>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incl. Hinglish</a:t>
            </a:r>
            <a:endParaRPr lang="en-US" sz="1200" dirty="0"/>
          </a:p>
        </p:txBody>
      </p:sp>
      <p:sp>
        <p:nvSpPr>
          <p:cNvPr id="34" name="Progress 6 circle"/>
          <p:cNvSpPr/>
          <p:nvPr/>
        </p:nvSpPr>
        <p:spPr>
          <a:xfrm>
            <a:off x="7516368" y="4498848"/>
            <a:ext cx="274320" cy="274320"/>
          </a:xfrm>
          <a:prstGeom prst="ellipse">
            <a:avLst/>
          </a:prstGeom>
          <a:solidFill>
            <a:srgbClr val="3CC9A7"/>
          </a:solidFill>
          <a:ln/>
        </p:spPr>
      </p:sp>
      <p:pic>
        <p:nvPicPr>
          <p:cNvPr id="35" name="Progress 6 icon" descr="preencoded.png">    </p:cNvPr>
          <p:cNvPicPr>
            <a:picLocks noChangeAspect="1"/>
          </p:cNvPicPr>
          <p:nvPr/>
        </p:nvPicPr>
        <p:blipFill>
          <a:blip r:embed="rId8"/>
          <a:stretch>
            <a:fillRect/>
          </a:stretch>
        </p:blipFill>
        <p:spPr>
          <a:xfrm>
            <a:off x="7582205" y="4564685"/>
            <a:ext cx="142646" cy="142646"/>
          </a:xfrm>
          <a:prstGeom prst="rect">
            <a:avLst/>
          </a:prstGeom>
        </p:spPr>
      </p:pic>
      <p:sp>
        <p:nvSpPr>
          <p:cNvPr id="36" name="Text 26"/>
          <p:cNvSpPr txBox="1"/>
          <p:nvPr/>
        </p:nvSpPr>
        <p:spPr>
          <a:xfrm>
            <a:off x="7909560" y="4462272"/>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AI analyst</a:t>
            </a:r>
            <a:endParaRPr lang="en-US" sz="1400" dirty="0"/>
          </a:p>
        </p:txBody>
      </p:sp>
      <p:sp>
        <p:nvSpPr>
          <p:cNvPr id="37" name="Text 27"/>
          <p:cNvSpPr txBox="1"/>
          <p:nvPr/>
        </p:nvSpPr>
        <p:spPr>
          <a:xfrm>
            <a:off x="10104120" y="4462272"/>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3 providers</a:t>
            </a:r>
            <a:endParaRPr lang="en-US" sz="1200" dirty="0"/>
          </a:p>
        </p:txBody>
      </p:sp>
      <p:sp>
        <p:nvSpPr>
          <p:cNvPr id="38" name="Progress 7 circle"/>
          <p:cNvSpPr/>
          <p:nvPr/>
        </p:nvSpPr>
        <p:spPr>
          <a:xfrm>
            <a:off x="7516368" y="4901184"/>
            <a:ext cx="274320" cy="274320"/>
          </a:xfrm>
          <a:prstGeom prst="ellipse">
            <a:avLst/>
          </a:prstGeom>
          <a:solidFill>
            <a:srgbClr val="3CC9A7"/>
          </a:solidFill>
          <a:ln/>
        </p:spPr>
      </p:sp>
      <p:pic>
        <p:nvPicPr>
          <p:cNvPr id="39" name="Progress 7 icon" descr="preencoded.png">    </p:cNvPr>
          <p:cNvPicPr>
            <a:picLocks noChangeAspect="1"/>
          </p:cNvPicPr>
          <p:nvPr/>
        </p:nvPicPr>
        <p:blipFill>
          <a:blip r:embed="rId9"/>
          <a:stretch>
            <a:fillRect/>
          </a:stretch>
        </p:blipFill>
        <p:spPr>
          <a:xfrm>
            <a:off x="7582205" y="4967021"/>
            <a:ext cx="142646" cy="142646"/>
          </a:xfrm>
          <a:prstGeom prst="rect">
            <a:avLst/>
          </a:prstGeom>
        </p:spPr>
      </p:pic>
      <p:sp>
        <p:nvSpPr>
          <p:cNvPr id="40" name="Text 29"/>
          <p:cNvSpPr txBox="1"/>
          <p:nvPr/>
        </p:nvSpPr>
        <p:spPr>
          <a:xfrm>
            <a:off x="7909560" y="4864608"/>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Telegram brief</a:t>
            </a:r>
            <a:endParaRPr lang="en-US" sz="1400" dirty="0"/>
          </a:p>
        </p:txBody>
      </p:sp>
      <p:sp>
        <p:nvSpPr>
          <p:cNvPr id="41" name="Text 30"/>
          <p:cNvSpPr txBox="1"/>
          <p:nvPr/>
        </p:nvSpPr>
        <p:spPr>
          <a:xfrm>
            <a:off x="10104120" y="4864608"/>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daily</a:t>
            </a:r>
            <a:endParaRPr lang="en-US" sz="1200" dirty="0"/>
          </a:p>
        </p:txBody>
      </p:sp>
      <p:sp>
        <p:nvSpPr>
          <p:cNvPr id="42" name="Progress 8 circle"/>
          <p:cNvSpPr/>
          <p:nvPr/>
        </p:nvSpPr>
        <p:spPr>
          <a:xfrm>
            <a:off x="7516368" y="5303520"/>
            <a:ext cx="274320" cy="274320"/>
          </a:xfrm>
          <a:prstGeom prst="ellipse">
            <a:avLst/>
          </a:prstGeom>
          <a:solidFill>
            <a:srgbClr val="3CC9A7"/>
          </a:solidFill>
          <a:ln/>
        </p:spPr>
      </p:sp>
      <p:pic>
        <p:nvPicPr>
          <p:cNvPr id="43" name="Progress 8 icon" descr="preencoded.png">    </p:cNvPr>
          <p:cNvPicPr>
            <a:picLocks noChangeAspect="1"/>
          </p:cNvPicPr>
          <p:nvPr/>
        </p:nvPicPr>
        <p:blipFill>
          <a:blip r:embed="rId10"/>
          <a:stretch>
            <a:fillRect/>
          </a:stretch>
        </p:blipFill>
        <p:spPr>
          <a:xfrm>
            <a:off x="7582205" y="5369357"/>
            <a:ext cx="142646" cy="142646"/>
          </a:xfrm>
          <a:prstGeom prst="rect">
            <a:avLst/>
          </a:prstGeom>
        </p:spPr>
      </p:pic>
      <p:sp>
        <p:nvSpPr>
          <p:cNvPr id="44" name="Text 32"/>
          <p:cNvSpPr txBox="1"/>
          <p:nvPr/>
        </p:nvSpPr>
        <p:spPr>
          <a:xfrm>
            <a:off x="7909560" y="5266944"/>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Website</a:t>
            </a:r>
            <a:endParaRPr lang="en-US" sz="1400" dirty="0"/>
          </a:p>
        </p:txBody>
      </p:sp>
      <p:sp>
        <p:nvSpPr>
          <p:cNvPr id="45" name="Text 33"/>
          <p:cNvSpPr txBox="1"/>
          <p:nvPr/>
        </p:nvSpPr>
        <p:spPr>
          <a:xfrm>
            <a:off x="10104120" y="5266944"/>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10 pages</a:t>
            </a:r>
            <a:endParaRPr lang="en-US" sz="1200" dirty="0"/>
          </a:p>
        </p:txBody>
      </p:sp>
      <p:sp>
        <p:nvSpPr>
          <p:cNvPr id="46" name="Progress 9 circle"/>
          <p:cNvSpPr/>
          <p:nvPr/>
        </p:nvSpPr>
        <p:spPr>
          <a:xfrm>
            <a:off x="7516368" y="5705856"/>
            <a:ext cx="274320" cy="274320"/>
          </a:xfrm>
          <a:prstGeom prst="ellipse">
            <a:avLst/>
          </a:prstGeom>
          <a:solidFill>
            <a:srgbClr val="E0B04A"/>
          </a:solidFill>
          <a:ln/>
        </p:spPr>
      </p:sp>
      <p:pic>
        <p:nvPicPr>
          <p:cNvPr id="47" name="Progress 9 icon" descr="preencoded.png">    </p:cNvPr>
          <p:cNvPicPr>
            <a:picLocks noChangeAspect="1"/>
          </p:cNvPicPr>
          <p:nvPr/>
        </p:nvPicPr>
        <p:blipFill>
          <a:blip r:embed="rId11"/>
          <a:stretch>
            <a:fillRect/>
          </a:stretch>
        </p:blipFill>
        <p:spPr>
          <a:xfrm>
            <a:off x="7582205" y="5771693"/>
            <a:ext cx="142646" cy="142646"/>
          </a:xfrm>
          <a:prstGeom prst="rect">
            <a:avLst/>
          </a:prstGeom>
        </p:spPr>
      </p:pic>
      <p:sp>
        <p:nvSpPr>
          <p:cNvPr id="48" name="Text 35"/>
          <p:cNvSpPr txBox="1"/>
          <p:nvPr/>
        </p:nvSpPr>
        <p:spPr>
          <a:xfrm>
            <a:off x="7909560" y="5669280"/>
            <a:ext cx="2286000" cy="347472"/>
          </a:xfrm>
          <a:prstGeom prst="rect">
            <a:avLst/>
          </a:prstGeom>
          <a:noFill/>
          <a:ln/>
        </p:spPr>
        <p:txBody>
          <a:bodyPr wrap="square" lIns="0" tIns="0" rIns="0" bIns="0" rtlCol="0" anchor="ctr"/>
          <a:lstStyle/>
          <a:p>
            <a:pPr indent="0" marL="0">
              <a:buNone/>
            </a:pPr>
            <a:r>
              <a:rPr lang="en-US" sz="1400" b="1" dirty="0">
                <a:solidFill>
                  <a:schemeClr val="bg1"/>
                </a:solidFill>
              </a:rPr>
              <a:t>Upstox live quotes</a:t>
            </a:r>
            <a:endParaRPr lang="en-US" sz="1400" dirty="0"/>
          </a:p>
        </p:txBody>
      </p:sp>
      <p:sp>
        <p:nvSpPr>
          <p:cNvPr id="49" name="Text 36"/>
          <p:cNvSpPr txBox="1"/>
          <p:nvPr/>
        </p:nvSpPr>
        <p:spPr>
          <a:xfrm>
            <a:off x="10104120" y="5669280"/>
            <a:ext cx="1371600" cy="347472"/>
          </a:xfrm>
          <a:prstGeom prst="rect">
            <a:avLst/>
          </a:prstGeom>
          <a:noFill/>
          <a:ln/>
        </p:spPr>
        <p:txBody>
          <a:bodyPr wrap="square" lIns="0" tIns="0" rIns="0" bIns="0" rtlCol="0" anchor="ctr"/>
          <a:lstStyle/>
          <a:p>
            <a:pPr algn="r" indent="0" marL="0">
              <a:buNone/>
            </a:pPr>
            <a:r>
              <a:rPr lang="en-US" sz="1200" dirty="0">
                <a:solidFill>
                  <a:schemeClr val="bg2"/>
                </a:solidFill>
              </a:rPr>
              <a:t>coded, for finale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GoldLens">
  <a:themeElements>
    <a:clrScheme name="GoldLens">
      <a:dk1>
        <a:srgbClr val="0B0F17"/>
      </a:dk1>
      <a:lt1>
        <a:srgbClr val="E9EBF0"/>
      </a:lt1>
      <a:dk2>
        <a:srgbClr val="151C29"/>
      </a:dk2>
      <a:lt2>
        <a:srgbClr val="8A93A6"/>
      </a:lt2>
      <a:accent1>
        <a:srgbClr val="E0B04A"/>
      </a:accent1>
      <a:accent2>
        <a:srgbClr val="5B8DEF"/>
      </a:accent2>
      <a:accent3>
        <a:srgbClr val="F07A8C"/>
      </a:accent3>
      <a:accent4>
        <a:srgbClr val="3CC9A7"/>
      </a:accent4>
      <a:accent5>
        <a:srgbClr val="26C281"/>
      </a:accent5>
      <a:accent6>
        <a:srgbClr val="F0566A"/>
      </a:accent6>
      <a:hlink>
        <a:srgbClr val="F6D98B"/>
      </a:hlink>
      <a:folHlink>
        <a:srgbClr val="B8862B"/>
      </a:folHlink>
    </a:clrScheme>
    <a:fontScheme name="GoldLen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GoldLens: Honest intelligence for MCX gold futures</dc:title>
  <dc:subject>Hack in Hills '26 · PS 03 Commodity Derivatives Intelligence</dc:subject>
  <dc:creator>Team TechFast</dc:creator>
  <cp:lastModifiedBy>Team TechFast</cp:lastModifiedBy>
  <cp:revision>1</cp:revision>
  <dcterms:created xsi:type="dcterms:W3CDTF">2026-10-28T12:00:36Z</dcterms:created>
  <dcterms:modified xsi:type="dcterms:W3CDTF">2026-10-28T12:00:36Z</dcterms:modified>
</cp:coreProperties>
</file>